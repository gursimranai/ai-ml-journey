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90" d="100"/>
          <a:sy n="90" d="100"/>
        </p:scale>
        <p:origin x="298" y="-18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8525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Opening slide. The deck is derived from the supplied 26-page HTML Notes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source begins with HTML fundamentals and progresses through formatting, images, links, tables and colors.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distinction: HTML describes document structure; programming languages implement logic. The source specifically calls HTML a markup language.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source gives step-by-step instructions for creating template.htm and opening it in a browser.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source explicitly divides HTML into head and body. Use the hierarchy to explain parent/child relationships.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source uses tag and element interchangeably in places. It explains attributes as name/value pairs placed in the opening tag.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first column summarizes the source's wording. The second is a practical teaching takeaway consistent with the source's warning about markup correctness.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source's basic tags are html, head, title and body. It also mentions DOCTYPE and XML declaration in an XHTML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source says title is a child of head and body contains what users actually see in the main browser window.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reproduces the generic-attribute table in compact presentation form. The source itself recommends CSS instead of deprecated presentational attributes in later sections.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source explicitly explains whitespace collapsing and recommends structuring web text well.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heading hierarchy rather than using headings merely for font size. The source specifically lists h1 through h6.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source demonstrates align on p. Also point out that presentational alignment is better handled with CSS in modern 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source explains &lt;br /&gt; as an empty element and demonstrates &lt;center&gt;. Mention that center is legacy/presentational markup.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source states that text between &lt;pre&gt; and &lt;/pre&gt; preserves source formatting.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Follow the source's &lt;hr /&gt; syntax but explain the modern HTML distinction as a clearly labeled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source covers b, i, u, strike, tt, sup, sub, big and small. Many are legacy/presentational in modern HTML; retain them here because the goal is faithful teaching from the supplied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this as a live-coding slide: type each line and show the browser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source explicitly distinguishes phrase elements from purely presentational elements and describes em/strong as emphasis.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lists on this slide are taken from the source's block/inline classification.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source emphasizes the exact comment delimiters and warns about malformed opening markers such as &lt; !--.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this slide to demonstrate why syntax matters even in a forgiving markup environment.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an important fidelity slide: the source teaches legacy font tags but explicitly says they should not be used in modern 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source's font-size range is included verbatim in concept, with code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source explains relative size with +n and -n. Clarify that this is a legacy &lt;font&gt; feature.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source explicitly warns that a font must be installed on the viewer's computer. It suggests CSS elsewhere in the tutorial.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source shows color names and hex values for font color, then later expands the topic to page/table colors.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consolidates the complete image-attribute list in the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the exact apple.jpg example from the source and explain each attribute one by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source includes two examples. Example 2 adds hspace=15 and vspace=10 to create separation from surrounding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source defines hyperlinks as navigation mechanisms and introduces &lt;a&gt; as the anchor element.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target values and other attributes are taken from the source's anchor-attribute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source demonstrates external links and a simple download link using an href to a PDF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The source explains table, tr and td and shows a 2×2 table. It also notes that border is deprecated/presentational and CSS is recommended.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source says &lt;th&gt; replaces &lt;td&gt; for headings and notes that every cell needs a td or th element.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source explains cellpadding and cellspacing as table-spacing attributes. Modern HTML/CSS normally uses CSS padding/border-spacing.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source defines colspan as merging two or more columns and rowspan as merging two or more rows. The code is taken from the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source gives both bgcolor/background examples and explains width/height as integer or percentage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source explicitly labels caption as deprecated in newer HTML/XHTML. Preserve that wording as a source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source introduces color names, hex codes and RGB values. It also recommends CSS for colors.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These 16 color names are listed in the source under W3C Standard 16 Colors.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source defines RR/GG/BB ordering and provides these example hex codes.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source says RGB values can be 0–255 or percentages and gives nine examples. It also warns about browser support in the tutorial's historical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source spans pages 24–26 with a large 216-color grid. This slide explains the concept and shows representative entries; the full grid is intentionally not reproduced as dense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an integrated teaching example created from the concepts in the source. It is not a verbatim example from the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as a revision checklist. It summarizes the major tags and topics covered in the source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by revisiting the source's major concepts and its repeated warning that presentational attributes/tags are deprecated and CSS should be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868680"/>
            <a:ext cx="402336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5000" b="1" i="0">
                <a:solidFill>
                  <a:srgbClr val="46D2E6"/>
                </a:solidFill>
                <a:latin typeface="Aptos"/>
              </a:rPr>
              <a:t>HTML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755648"/>
            <a:ext cx="8046720" cy="5355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lang="en-IN" sz="3000" b="1" i="0" dirty="0">
                <a:solidFill>
                  <a:srgbClr val="F5F8FC"/>
                </a:solidFill>
                <a:latin typeface="Aptos"/>
              </a:rPr>
              <a:t>Dr. Aarchit Joshi</a:t>
            </a:r>
            <a:endParaRPr sz="3000" b="1" i="0" dirty="0">
              <a:solidFill>
                <a:srgbClr val="F5F8FC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3703320"/>
            <a:ext cx="10652760" cy="1234440"/>
          </a:xfrm>
          <a:prstGeom prst="roundRect">
            <a:avLst/>
          </a:prstGeom>
          <a:solidFill>
            <a:srgbClr val="080D16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4041648"/>
            <a:ext cx="100126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100" b="1" i="0">
                <a:solidFill>
                  <a:srgbClr val="DEECF7"/>
                </a:solidFill>
                <a:latin typeface="Cascadia Mono"/>
              </a:rPr>
              <a:t>&lt;html&gt;  &lt;head&gt;  &lt;title&gt;  &lt;body&gt;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172200"/>
            <a:ext cx="3657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1000" b="0" i="0">
                <a:solidFill>
                  <a:srgbClr val="AFBCCF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2377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46D2E6"/>
                </a:solidFill>
                <a:latin typeface="Aptos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"/>
              </a:rPr>
              <a:t>Learning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7899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 i="0">
                <a:solidFill>
                  <a:srgbClr val="AFBCCF"/>
                </a:solidFill>
                <a:latin typeface="Aptos"/>
              </a:rPr>
              <a:t>The presentation follows the sequence and terminology of the source notes.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B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01400" y="6537960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0" i="0">
                <a:solidFill>
                  <a:srgbClr val="AFBCCF"/>
                </a:solidFill>
                <a:latin typeface="Aptos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5257800" cy="434340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355080" y="1600200"/>
            <a:ext cx="5257800" cy="434340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47091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46D2E6"/>
                </a:solidFill>
                <a:latin typeface="Aptos"/>
              </a:rPr>
              <a:t>Core foundations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13432"/>
            <a:ext cx="4709160" cy="34290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6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What HTML is and why it is a markup language</a:t>
            </a:r>
          </a:p>
          <a:p>
            <a:pPr>
              <a:spcAft>
                <a:spcPts val="6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Creating and saving a basic HTML document</a:t>
            </a:r>
          </a:p>
          <a:p>
            <a:pPr>
              <a:spcAft>
                <a:spcPts val="6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Document structure: html, head, title, body</a:t>
            </a:r>
          </a:p>
          <a:p>
            <a:pPr>
              <a:spcAft>
                <a:spcPts val="6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Tags, elements, attributes, and browser behavior</a:t>
            </a:r>
          </a:p>
          <a:p>
            <a:pPr>
              <a:spcAft>
                <a:spcPts val="6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Generic attributes and whitespace/flow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1828800"/>
            <a:ext cx="47091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5DDC91"/>
                </a:solidFill>
                <a:latin typeface="Aptos"/>
              </a:rPr>
              <a:t>Content building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313432"/>
            <a:ext cx="4709160" cy="34290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6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Headings, paragraphs, line breaks and centering</a:t>
            </a:r>
          </a:p>
          <a:p>
            <a:pPr>
              <a:spcAft>
                <a:spcPts val="6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Preformatted text and horizontal rules</a:t>
            </a:r>
          </a:p>
          <a:p>
            <a:pPr>
              <a:spcAft>
                <a:spcPts val="6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Text formatting and phrase elements</a:t>
            </a:r>
          </a:p>
          <a:p>
            <a:pPr>
              <a:spcAft>
                <a:spcPts val="6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Comments and fonts</a:t>
            </a:r>
          </a:p>
          <a:p>
            <a:pPr>
              <a:spcAft>
                <a:spcPts val="6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Images, hyperlinks, tables and colors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2377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46D2E6"/>
                </a:solidFill>
                <a:latin typeface="Aptos"/>
              </a:rPr>
              <a:t>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"/>
              </a:rPr>
              <a:t>What is HTML?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7899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 i="0">
                <a:solidFill>
                  <a:srgbClr val="AFBCCF"/>
                </a:solidFill>
                <a:latin typeface="Aptos"/>
              </a:rPr>
              <a:t>Hypertext Markup Language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B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01400" y="6537960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0" i="0">
                <a:solidFill>
                  <a:srgbClr val="AFBCCF"/>
                </a:solidFill>
                <a:latin typeface="Aptos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5257800" cy="434340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355080" y="1600200"/>
            <a:ext cx="5257800" cy="434340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47091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46D2E6"/>
                </a:solidFill>
                <a:latin typeface="Aptos"/>
              </a:rPr>
              <a:t>Meaning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13432"/>
            <a:ext cx="4709160" cy="34290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6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HTML stands for Hypertext Markup Language.</a:t>
            </a:r>
          </a:p>
          <a:p>
            <a:pPr>
              <a:spcAft>
                <a:spcPts val="6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It is a markup language, not a programming language.</a:t>
            </a:r>
          </a:p>
          <a:p>
            <a:pPr>
              <a:spcAft>
                <a:spcPts val="6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It is used to write and structure web pages.</a:t>
            </a:r>
          </a:p>
          <a:p>
            <a:pPr>
              <a:spcAft>
                <a:spcPts val="6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Hypertext describes links between web pages.</a:t>
            </a:r>
          </a:p>
          <a:p>
            <a:pPr>
              <a:spcAft>
                <a:spcPts val="6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Markup uses tags to tell a browser how content is structured.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1828800"/>
            <a:ext cx="47091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5DDC91"/>
                </a:solidFill>
                <a:latin typeface="Aptos"/>
              </a:rP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313432"/>
            <a:ext cx="4709160" cy="34290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6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HTML provides the structural building blocks of a web page.</a:t>
            </a:r>
          </a:p>
          <a:p>
            <a:pPr>
              <a:spcAft>
                <a:spcPts val="6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The source notes trace its early purpose to structuring documents such as headings, paragraphs and lists.</a:t>
            </a:r>
          </a:p>
          <a:p>
            <a:pPr>
              <a:spcAft>
                <a:spcPts val="6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A browser renders the HTML file and its content for the user.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2377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46D2E6"/>
                </a:solidFill>
                <a:latin typeface="Aptos"/>
              </a:rPr>
              <a:t>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"/>
              </a:rPr>
              <a:t>Creating an HTML Document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7899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 i="0">
                <a:solidFill>
                  <a:srgbClr val="AFBCCF"/>
                </a:solidFill>
                <a:latin typeface="Aptos"/>
              </a:rPr>
              <a:t>The source uses a simple text editor + web browser workflow.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B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01400" y="6537960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0" i="0">
                <a:solidFill>
                  <a:srgbClr val="AFBCCF"/>
                </a:solidFill>
                <a:latin typeface="Aptos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4800600" cy="448056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847088"/>
            <a:ext cx="40233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46D2E6"/>
                </a:solidFill>
                <a:latin typeface="Aptos"/>
              </a:rPr>
              <a:t>Basic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95728"/>
            <a:ext cx="4160520" cy="32461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Open Notepad or another text editor.</a:t>
            </a:r>
          </a:p>
          <a:p>
            <a:pPr>
              <a:spcAft>
                <a:spcPts val="10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Type the html, head, title and body structure.</a:t>
            </a:r>
          </a:p>
          <a:p>
            <a:pPr>
              <a:spcAft>
                <a:spcPts val="10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Save using Save As → All Files.</a:t>
            </a:r>
          </a:p>
          <a:p>
            <a:pPr>
              <a:spcAft>
                <a:spcPts val="10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Use a .htm or .html extension.</a:t>
            </a:r>
          </a:p>
          <a:p>
            <a:pPr>
              <a:spcAft>
                <a:spcPts val="10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Open the saved file in a web browser.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23560" y="1600200"/>
            <a:ext cx="5760720" cy="4480560"/>
          </a:xfrm>
          <a:prstGeom prst="roundRect">
            <a:avLst/>
          </a:prstGeom>
          <a:solidFill>
            <a:srgbClr val="080D16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88152" y="1709928"/>
            <a:ext cx="1097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46D2E6"/>
                </a:solidFill>
                <a:latin typeface="Aptos"/>
              </a:rPr>
              <a:t>BASIC 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88152" y="2011680"/>
            <a:ext cx="5431536" cy="395020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500">
                <a:solidFill>
                  <a:srgbClr val="DEECF7"/>
                </a:solidFill>
                <a:latin typeface="Cascadia Mono"/>
              </a:rPr>
              <a:t>&lt;html&gt;
&lt;head&gt;
  &lt;title&gt;My First Page&lt;/title&gt;
&lt;/head&gt;
&lt;body&gt;
  &lt;h1&gt;Hello Web!&lt;/h1&gt;
  &lt;p&gt;My first HTML page.&lt;/p&gt;
&lt;/body&gt;
&lt;/html&gt;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2377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46D2E6"/>
                </a:solidFill>
                <a:latin typeface="Aptos"/>
              </a:rPr>
              <a:t>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"/>
              </a:rPr>
              <a:t>HTML Document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7899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 i="0">
                <a:solidFill>
                  <a:srgbClr val="AFBCCF"/>
                </a:solidFill>
                <a:latin typeface="Aptos"/>
              </a:rPr>
              <a:t>Think of the document as a hierarchy.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B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01400" y="6537960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0" i="0">
                <a:solidFill>
                  <a:srgbClr val="AFBCCF"/>
                </a:solidFill>
                <a:latin typeface="Aptos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5120640" cy="4480560"/>
          </a:xfrm>
          <a:prstGeom prst="roundRect">
            <a:avLst/>
          </a:prstGeom>
          <a:solidFill>
            <a:srgbClr val="080D16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709928"/>
            <a:ext cx="1097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46D2E6"/>
                </a:solidFill>
                <a:latin typeface="Aptos"/>
              </a:rPr>
              <a:t>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011680"/>
            <a:ext cx="4791455" cy="395020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700">
                <a:solidFill>
                  <a:srgbClr val="DEECF7"/>
                </a:solidFill>
                <a:latin typeface="Cascadia Mono"/>
              </a:rPr>
              <a:t>&lt;html&gt;
  &lt;head&gt;
    &lt;title&gt;Page Title&lt;/title&gt;
  &lt;/head&gt;
  &lt;body&gt;
    Visible page content
  &lt;/body&gt;
&lt;/html&gt;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1600200"/>
            <a:ext cx="5303520" cy="448056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1847088"/>
            <a:ext cx="19202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46D2E6"/>
                </a:solidFill>
                <a:latin typeface="Aptos"/>
              </a:rPr>
              <a:t>&lt;html&gt;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856231"/>
            <a:ext cx="27432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50" b="0" i="0">
                <a:solidFill>
                  <a:srgbClr val="F5F8FC"/>
                </a:solidFill>
                <a:latin typeface="Aptos"/>
              </a:rPr>
              <a:t>Outer container for the complete HTML document.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606040"/>
            <a:ext cx="19202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5DDC91"/>
                </a:solidFill>
                <a:latin typeface="Aptos"/>
              </a:rPr>
              <a:t>&lt;head&gt;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596896"/>
            <a:ext cx="274320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50" b="0" i="0">
                <a:solidFill>
                  <a:srgbClr val="F5F8FC"/>
                </a:solidFill>
                <a:latin typeface="Aptos"/>
              </a:rPr>
              <a:t>Contains document information such as the title; it is not the main visible content.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703320"/>
            <a:ext cx="19202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F5CD5A"/>
                </a:solidFill>
                <a:latin typeface="Aptos"/>
              </a:rPr>
              <a:t>&lt;body&gt;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694176"/>
            <a:ext cx="274320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50" b="0" i="0">
                <a:solidFill>
                  <a:srgbClr val="F5F8FC"/>
                </a:solidFill>
                <a:latin typeface="Aptos"/>
              </a:rPr>
              <a:t>Contains the content displayed in the browser window.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4828032"/>
            <a:ext cx="11887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F59155"/>
                </a:solidFill>
                <a:latin typeface="Aptos"/>
              </a:rPr>
              <a:t>Key idea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5230368"/>
            <a:ext cx="45720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F5F8FC"/>
                </a:solidFill>
                <a:latin typeface="Aptos"/>
              </a:rPr>
              <a:t>head = page information • body = page content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2377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46D2E6"/>
                </a:solidFill>
                <a:latin typeface="Aptos"/>
              </a:rPr>
              <a:t>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"/>
              </a:rPr>
              <a:t>Tags, Elements &amp; Attributes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7899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 i="0">
                <a:solidFill>
                  <a:srgbClr val="AFBCCF"/>
                </a:solidFill>
                <a:latin typeface="Aptos"/>
              </a:rPr>
              <a:t>How HTML syntax is assembled.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B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01400" y="6537960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0" i="0">
                <a:solidFill>
                  <a:srgbClr val="AFBCCF"/>
                </a:solidFill>
                <a:latin typeface="Aptos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3657600" cy="448056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874519"/>
            <a:ext cx="10972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46D2E6"/>
                </a:solidFill>
                <a:latin typeface="Aptos"/>
              </a:rPr>
              <a:t>Tag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31720"/>
            <a:ext cx="29260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500" b="1" i="0">
                <a:solidFill>
                  <a:srgbClr val="DEECF7"/>
                </a:solidFill>
                <a:latin typeface="Cascadia Mono"/>
              </a:rPr>
              <a:t>&lt;p&gt;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971800"/>
            <a:ext cx="2834640" cy="7772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F5F8FC"/>
                </a:solidFill>
                <a:latin typeface="Aptos"/>
              </a:rPr>
              <a:t>A markup name enclosed in angle brackets.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977639"/>
            <a:ext cx="13716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5DDC91"/>
                </a:solidFill>
                <a:latin typeface="Aptos"/>
              </a:rPr>
              <a:t>Element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434840"/>
            <a:ext cx="29260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200" b="1" i="0">
                <a:solidFill>
                  <a:srgbClr val="DEECF7"/>
                </a:solidFill>
                <a:latin typeface="Cascadia Mono"/>
              </a:rPr>
              <a:t>&lt;p&gt;Hello&lt;/p&gt;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074920"/>
            <a:ext cx="283464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F5F8FC"/>
                </a:solidFill>
                <a:latin typeface="Aptos"/>
              </a:rPr>
              <a:t>Opening tag + content + closing tag.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80" y="1600200"/>
            <a:ext cx="6858000" cy="448056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00600" y="1874519"/>
            <a:ext cx="62179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F5CD5A"/>
                </a:solidFill>
                <a:latin typeface="Aptos"/>
              </a:rPr>
              <a:t>Attribute = extra information in the opening tag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00600" y="2514600"/>
            <a:ext cx="6217920" cy="1097280"/>
          </a:xfrm>
          <a:prstGeom prst="roundRect">
            <a:avLst/>
          </a:prstGeom>
          <a:solidFill>
            <a:srgbClr val="080D16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965192" y="2624328"/>
            <a:ext cx="1097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46D2E6"/>
                </a:solidFill>
                <a:latin typeface="Aptos"/>
              </a:rPr>
              <a:t>EXAMPLE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65192" y="2926080"/>
            <a:ext cx="5888736" cy="56692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600">
                <a:solidFill>
                  <a:srgbClr val="DEECF7"/>
                </a:solidFill>
                <a:latin typeface="Cascadia Mono"/>
              </a:rPr>
              <a:t>&lt;font face="arial" color="#CC0000"&gt;Text&lt;/font&gt;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3931920"/>
            <a:ext cx="1828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46D2E6"/>
                </a:solidFill>
                <a:latin typeface="Aptos"/>
              </a:rPr>
              <a:t>Attribute name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4297680"/>
            <a:ext cx="10972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F5F8FC"/>
                </a:solidFill>
                <a:latin typeface="Cascadia Mono"/>
              </a:rPr>
              <a:t>face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3931920"/>
            <a:ext cx="20116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5DDC91"/>
                </a:solidFill>
                <a:latin typeface="Aptos"/>
              </a:rPr>
              <a:t>Attribute value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297680"/>
            <a:ext cx="13716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F5F8FC"/>
                </a:solidFill>
                <a:latin typeface="Cascadia Mono"/>
              </a:rPr>
              <a:t>"arial"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4983480"/>
            <a:ext cx="598932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50" b="0" i="0">
                <a:solidFill>
                  <a:srgbClr val="AFBCCF"/>
                </a:solidFill>
                <a:latin typeface="Aptos"/>
              </a:rPr>
              <a:t>The source notes that attribute values are written in quotation marks and separated from the name by =.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2377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46D2E6"/>
                </a:solidFill>
                <a:latin typeface="Aptos"/>
              </a:rPr>
              <a:t>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"/>
              </a:rPr>
              <a:t>HTML Is Forgiving — but Don't Rely on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7899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 i="0">
                <a:solidFill>
                  <a:srgbClr val="AFBCCF"/>
                </a:solidFill>
                <a:latin typeface="Aptos"/>
              </a:rPr>
              <a:t>The source describes how browsers handle malformed markup.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B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01400" y="6537960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0" i="0">
                <a:solidFill>
                  <a:srgbClr val="AFBCCF"/>
                </a:solidFill>
                <a:latin typeface="Aptos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5257800" cy="434340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355080" y="1600200"/>
            <a:ext cx="5257800" cy="434340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47091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46D2E6"/>
                </a:solidFill>
                <a:latin typeface="Aptos"/>
              </a:rPr>
              <a:t>Source explanation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13432"/>
            <a:ext cx="4709160" cy="34290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6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Browsers may ignore an incorrect tag or attribute.</a:t>
            </a:r>
          </a:p>
          <a:p>
            <a:pPr>
              <a:spcAft>
                <a:spcPts val="6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Correct parts of the markup can still be rendered.</a:t>
            </a:r>
          </a:p>
          <a:p>
            <a:pPr>
              <a:spcAft>
                <a:spcPts val="6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This behavior is one reason a simple HTML page may appear even with mistakes.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1828800"/>
            <a:ext cx="47091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5DDC91"/>
                </a:solidFill>
                <a:latin typeface="Aptos"/>
              </a:rPr>
              <a:t>Teaching takeaway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313432"/>
            <a:ext cx="4709160" cy="34290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6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Forgiving behavior is not the same as valid or maintainable HTML.</a:t>
            </a:r>
          </a:p>
          <a:p>
            <a:pPr>
              <a:spcAft>
                <a:spcPts val="6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Close elements correctly and keep syntax consistent.</a:t>
            </a:r>
          </a:p>
          <a:p>
            <a:pPr>
              <a:spcAft>
                <a:spcPts val="6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Use validation and browser developer tools when debugging.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2377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46D2E6"/>
                </a:solidFill>
                <a:latin typeface="Aptos"/>
              </a:rPr>
              <a:t>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"/>
              </a:rPr>
              <a:t>Basic HTML Tags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7899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 i="0">
                <a:solidFill>
                  <a:srgbClr val="AFBCCF"/>
                </a:solidFill>
                <a:latin typeface="Aptos"/>
              </a:rPr>
              <a:t>The minimum elements emphasized in the source.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B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01400" y="6537960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0" i="0">
                <a:solidFill>
                  <a:srgbClr val="AFBCCF"/>
                </a:solidFill>
                <a:latin typeface="Aptos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10698480" cy="786384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856232"/>
            <a:ext cx="18288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46D2E6"/>
                </a:solidFill>
                <a:latin typeface="Cascadia Mono"/>
              </a:rPr>
              <a:t>&lt;html&gt;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1856232"/>
            <a:ext cx="7955279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F5F8FC"/>
                </a:solidFill>
                <a:latin typeface="Aptos"/>
              </a:rPr>
              <a:t>Main container for the HTML page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97480"/>
            <a:ext cx="10698480" cy="786384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862072"/>
            <a:ext cx="18288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46D2E6"/>
                </a:solidFill>
                <a:latin typeface="Cascadia Mono"/>
              </a:rPr>
              <a:t>&lt;head&gt;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862072"/>
            <a:ext cx="7955279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F5F8FC"/>
                </a:solidFill>
                <a:latin typeface="Aptos"/>
              </a:rPr>
              <a:t>Container for header/document information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03320"/>
            <a:ext cx="10698480" cy="786384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3867912"/>
            <a:ext cx="18288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5DDC91"/>
                </a:solidFill>
                <a:latin typeface="Cascadia Mono"/>
              </a:rPr>
              <a:t>&lt;title&gt;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3867912"/>
            <a:ext cx="7955279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F5F8FC"/>
                </a:solidFill>
                <a:latin typeface="Aptos"/>
              </a:rPr>
              <a:t>Title of the page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09160"/>
            <a:ext cx="10698480" cy="786384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4873752"/>
            <a:ext cx="18288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5DDC91"/>
                </a:solidFill>
                <a:latin typeface="Cascadia Mono"/>
              </a:rPr>
              <a:t>&lt;body&gt;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4873752"/>
            <a:ext cx="7955279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F5F8FC"/>
                </a:solidFill>
                <a:latin typeface="Aptos"/>
              </a:rPr>
              <a:t>Main body / visible page content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897880"/>
            <a:ext cx="21031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59155"/>
                </a:solidFill>
                <a:latin typeface="Aptos"/>
              </a:rPr>
              <a:t>XHTML note from source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5870448"/>
            <a:ext cx="80467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AFBCCF"/>
                </a:solidFill>
                <a:latin typeface="Aptos"/>
              </a:rPr>
              <a:t>The notes mention an XML declaration and a DOCTYPE declaration for XHTML.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2377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46D2E6"/>
                </a:solidFill>
                <a:latin typeface="Aptos"/>
              </a:rPr>
              <a:t>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"/>
              </a:rPr>
              <a:t>The &lt;head&gt;, &lt;title&gt; and &lt;body&gt;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7899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 i="0">
                <a:solidFill>
                  <a:srgbClr val="AFBCCF"/>
                </a:solidFill>
                <a:latin typeface="Aptos"/>
              </a:rPr>
              <a:t>Know what belongs where.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B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01400" y="6537960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0" i="0">
                <a:solidFill>
                  <a:srgbClr val="AFBCCF"/>
                </a:solidFill>
                <a:latin typeface="Aptos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3474720" cy="443484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874519"/>
            <a:ext cx="23774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46D2E6"/>
                </a:solidFill>
                <a:latin typeface="Cascadia Mono"/>
              </a:rPr>
              <a:t>&lt;head&gt;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14600"/>
            <a:ext cx="2743200" cy="20116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Appears after &lt;html&gt;.</a:t>
            </a:r>
          </a:p>
          <a:p>
            <a:pPr>
              <a:spcAft>
                <a:spcPts val="5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Contains header elements.</a:t>
            </a:r>
          </a:p>
          <a:p>
            <a:pPr>
              <a:spcAft>
                <a:spcPts val="5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Should contain &lt;title&gt;.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00200"/>
            <a:ext cx="3474720" cy="443484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874519"/>
            <a:ext cx="23774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5DDC91"/>
                </a:solidFill>
                <a:latin typeface="Cascadia Mono"/>
              </a:rPr>
              <a:t>&lt;title&gt;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514600"/>
            <a:ext cx="2743200" cy="2697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Describes the document.</a:t>
            </a:r>
          </a:p>
          <a:p>
            <a:pPr>
              <a:spcAft>
                <a:spcPts val="5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Shown at the top of a browser window.</a:t>
            </a:r>
          </a:p>
          <a:p>
            <a:pPr>
              <a:spcAft>
                <a:spcPts val="5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Used for bookmarks and search indexing in the source explanation.</a:t>
            </a:r>
          </a:p>
          <a:p>
            <a:pPr>
              <a:spcAft>
                <a:spcPts val="5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Contains title text only.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00200"/>
            <a:ext cx="3291840" cy="443484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66760" y="1874519"/>
            <a:ext cx="237744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F5CD5A"/>
                </a:solidFill>
                <a:latin typeface="Cascadia Mono"/>
              </a:rPr>
              <a:t>&lt;body&gt;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514600"/>
            <a:ext cx="2560320" cy="22402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Appears after &lt;head&gt;.</a:t>
            </a:r>
          </a:p>
          <a:p>
            <a:pPr>
              <a:spcAft>
                <a:spcPts val="5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Contains visible page content.</a:t>
            </a:r>
          </a:p>
          <a:p>
            <a:pPr>
              <a:spcAft>
                <a:spcPts val="5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Can contain headings, paragraphs, forms, tables and more.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2377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46D2E6"/>
                </a:solidFill>
                <a:latin typeface="Aptos"/>
              </a:rPr>
              <a:t>ATTRIBUTES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"/>
              </a:rPr>
              <a:t>Generic Attributes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7899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 i="0">
                <a:solidFill>
                  <a:srgbClr val="AFBCCF"/>
                </a:solidFill>
                <a:latin typeface="Aptos"/>
              </a:rPr>
              <a:t>Common attributes listed in the source.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B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01400" y="6537960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0" i="0">
                <a:solidFill>
                  <a:srgbClr val="AFBCCF"/>
                </a:solidFill>
                <a:latin typeface="Aptos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2011680" cy="502920"/>
          </a:xfrm>
          <a:prstGeom prst="rect">
            <a:avLst/>
          </a:prstGeom>
          <a:solidFill>
            <a:srgbClr val="1B273D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1709928"/>
            <a:ext cx="1828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46D2E6"/>
                </a:solidFill>
                <a:latin typeface="Aptos"/>
              </a:rPr>
              <a:t>Attribute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600200"/>
            <a:ext cx="2926080" cy="502920"/>
          </a:xfrm>
          <a:prstGeom prst="rect">
            <a:avLst/>
          </a:prstGeom>
          <a:solidFill>
            <a:srgbClr val="1B273D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52928" y="1709928"/>
            <a:ext cx="2743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46D2E6"/>
                </a:solidFill>
                <a:latin typeface="Aptos"/>
              </a:rPr>
              <a:t>Options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1600200"/>
            <a:ext cx="5212080" cy="502920"/>
          </a:xfrm>
          <a:prstGeom prst="rect">
            <a:avLst/>
          </a:prstGeom>
          <a:solidFill>
            <a:srgbClr val="1B273D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61888" y="1709928"/>
            <a:ext cx="5029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46D2E6"/>
                </a:solidFill>
                <a:latin typeface="Aptos"/>
              </a:rPr>
              <a:t>Function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103120"/>
            <a:ext cx="2011680" cy="457200"/>
          </a:xfrm>
          <a:prstGeom prst="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8" y="2176272"/>
            <a:ext cx="18288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20" b="1" i="0">
                <a:solidFill>
                  <a:srgbClr val="5DDC91"/>
                </a:solidFill>
                <a:latin typeface="Cascadia Mono"/>
              </a:rPr>
              <a:t>align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103120"/>
            <a:ext cx="2926080" cy="457200"/>
          </a:xfrm>
          <a:prstGeom prst="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52928" y="2176272"/>
            <a:ext cx="27432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20" b="0" i="0">
                <a:solidFill>
                  <a:srgbClr val="F5F8FC"/>
                </a:solidFill>
                <a:latin typeface="Aptos"/>
              </a:rPr>
              <a:t>right / left / center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0" y="2103120"/>
            <a:ext cx="5212080" cy="457200"/>
          </a:xfrm>
          <a:prstGeom prst="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61888" y="2176272"/>
            <a:ext cx="50292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20" b="0" i="0">
                <a:solidFill>
                  <a:srgbClr val="F5F8FC"/>
                </a:solidFill>
                <a:latin typeface="Aptos"/>
              </a:rPr>
              <a:t>Horizontal alignment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569463"/>
            <a:ext cx="2011680" cy="457200"/>
          </a:xfrm>
          <a:prstGeom prst="rect">
            <a:avLst/>
          </a:prstGeom>
          <a:solidFill>
            <a:srgbClr val="0B1220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9808" y="2642615"/>
            <a:ext cx="18288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20" b="1" i="0">
                <a:solidFill>
                  <a:srgbClr val="5DDC91"/>
                </a:solidFill>
                <a:latin typeface="Cascadia Mono"/>
              </a:rPr>
              <a:t>valign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0" y="2569463"/>
            <a:ext cx="2926080" cy="457200"/>
          </a:xfrm>
          <a:prstGeom prst="rect">
            <a:avLst/>
          </a:prstGeom>
          <a:solidFill>
            <a:srgbClr val="0B1220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852928" y="2642615"/>
            <a:ext cx="27432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20" b="0" i="0">
                <a:solidFill>
                  <a:srgbClr val="F5F8FC"/>
                </a:solidFill>
                <a:latin typeface="Aptos"/>
              </a:rPr>
              <a:t>top / middle / bottom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52160" y="2569463"/>
            <a:ext cx="5212080" cy="457200"/>
          </a:xfrm>
          <a:prstGeom prst="rect">
            <a:avLst/>
          </a:prstGeom>
          <a:solidFill>
            <a:srgbClr val="0B1220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61888" y="2642615"/>
            <a:ext cx="50292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20" b="0" i="0">
                <a:solidFill>
                  <a:srgbClr val="F5F8FC"/>
                </a:solidFill>
                <a:latin typeface="Aptos"/>
              </a:rPr>
              <a:t>Vertical alignment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035808"/>
            <a:ext cx="2011680" cy="457200"/>
          </a:xfrm>
          <a:prstGeom prst="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9808" y="3108960"/>
            <a:ext cx="18288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20" b="1" i="0">
                <a:solidFill>
                  <a:srgbClr val="5DDC91"/>
                </a:solidFill>
                <a:latin typeface="Cascadia Mono"/>
              </a:rPr>
              <a:t>bgcolor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0" y="3035808"/>
            <a:ext cx="2926080" cy="457200"/>
          </a:xfrm>
          <a:prstGeom prst="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852928" y="3108960"/>
            <a:ext cx="27432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20" b="0" i="0">
                <a:solidFill>
                  <a:srgbClr val="F5F8FC"/>
                </a:solidFill>
                <a:latin typeface="Aptos"/>
              </a:rPr>
              <a:t>numeric / hex / RGB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52160" y="3035808"/>
            <a:ext cx="5212080" cy="457200"/>
          </a:xfrm>
          <a:prstGeom prst="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61888" y="3108960"/>
            <a:ext cx="50292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20" b="0" i="0">
                <a:solidFill>
                  <a:srgbClr val="F5F8FC"/>
                </a:solidFill>
                <a:latin typeface="Aptos"/>
              </a:rPr>
              <a:t>Background color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3502152"/>
            <a:ext cx="2011680" cy="457200"/>
          </a:xfrm>
          <a:prstGeom prst="rect">
            <a:avLst/>
          </a:prstGeom>
          <a:solidFill>
            <a:srgbClr val="0B1220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49808" y="3575304"/>
            <a:ext cx="18288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20" b="1" i="0">
                <a:solidFill>
                  <a:srgbClr val="5DDC91"/>
                </a:solidFill>
                <a:latin typeface="Cascadia Mono"/>
              </a:rPr>
              <a:t>background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0" y="3502152"/>
            <a:ext cx="2926080" cy="457200"/>
          </a:xfrm>
          <a:prstGeom prst="rect">
            <a:avLst/>
          </a:prstGeom>
          <a:solidFill>
            <a:srgbClr val="0B1220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852928" y="3575304"/>
            <a:ext cx="27432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20" b="0" i="0">
                <a:solidFill>
                  <a:srgbClr val="F5F8FC"/>
                </a:solidFill>
                <a:latin typeface="Aptos"/>
              </a:rPr>
              <a:t>URL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52160" y="3502152"/>
            <a:ext cx="5212080" cy="457200"/>
          </a:xfrm>
          <a:prstGeom prst="rect">
            <a:avLst/>
          </a:prstGeom>
          <a:solidFill>
            <a:srgbClr val="0B1220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961888" y="3575304"/>
            <a:ext cx="50292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20" b="0" i="0">
                <a:solidFill>
                  <a:srgbClr val="F5F8FC"/>
                </a:solidFill>
                <a:latin typeface="Aptos"/>
              </a:rPr>
              <a:t>Background image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3968496"/>
            <a:ext cx="2011680" cy="457200"/>
          </a:xfrm>
          <a:prstGeom prst="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49808" y="4041648"/>
            <a:ext cx="18288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20" b="1" i="0">
                <a:solidFill>
                  <a:srgbClr val="5DDC91"/>
                </a:solidFill>
                <a:latin typeface="Cascadia Mono"/>
              </a:rPr>
              <a:t>id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0" y="3968496"/>
            <a:ext cx="2926080" cy="457200"/>
          </a:xfrm>
          <a:prstGeom prst="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852928" y="4041648"/>
            <a:ext cx="27432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20" b="0" i="0">
                <a:solidFill>
                  <a:srgbClr val="F5F8FC"/>
                </a:solidFill>
                <a:latin typeface="Aptos"/>
              </a:rPr>
              <a:t>user-defined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52160" y="3968496"/>
            <a:ext cx="5212080" cy="457200"/>
          </a:xfrm>
          <a:prstGeom prst="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961888" y="4041648"/>
            <a:ext cx="50292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20" b="0" i="0">
                <a:solidFill>
                  <a:srgbClr val="F5F8FC"/>
                </a:solidFill>
                <a:latin typeface="Aptos"/>
              </a:rPr>
              <a:t>Names an element; useful with CSS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4434840"/>
            <a:ext cx="2011680" cy="457200"/>
          </a:xfrm>
          <a:prstGeom prst="rect">
            <a:avLst/>
          </a:prstGeom>
          <a:solidFill>
            <a:srgbClr val="0B1220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49808" y="4507992"/>
            <a:ext cx="18288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20" b="1" i="0">
                <a:solidFill>
                  <a:srgbClr val="5DDC91"/>
                </a:solidFill>
                <a:latin typeface="Cascadia Mono"/>
              </a:rPr>
              <a:t>class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0" y="4434840"/>
            <a:ext cx="2926080" cy="457200"/>
          </a:xfrm>
          <a:prstGeom prst="rect">
            <a:avLst/>
          </a:prstGeom>
          <a:solidFill>
            <a:srgbClr val="0B1220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852928" y="4507992"/>
            <a:ext cx="27432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20" b="0" i="0">
                <a:solidFill>
                  <a:srgbClr val="F5F8FC"/>
                </a:solidFill>
                <a:latin typeface="Aptos"/>
              </a:rPr>
              <a:t>user-defined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852160" y="4434840"/>
            <a:ext cx="5212080" cy="457200"/>
          </a:xfrm>
          <a:prstGeom prst="rect">
            <a:avLst/>
          </a:prstGeom>
          <a:solidFill>
            <a:srgbClr val="0B1220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961888" y="4507992"/>
            <a:ext cx="50292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20" b="0" i="0">
                <a:solidFill>
                  <a:srgbClr val="F5F8FC"/>
                </a:solidFill>
                <a:latin typeface="Aptos"/>
              </a:rPr>
              <a:t>Classifies elements; useful with CSS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" y="4901183"/>
            <a:ext cx="2011680" cy="457200"/>
          </a:xfrm>
          <a:prstGeom prst="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49808" y="4974336"/>
            <a:ext cx="18288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20" b="1" i="0">
                <a:solidFill>
                  <a:srgbClr val="5DDC91"/>
                </a:solidFill>
                <a:latin typeface="Cascadia Mono"/>
              </a:rPr>
              <a:t>width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0" y="4901183"/>
            <a:ext cx="2926080" cy="457200"/>
          </a:xfrm>
          <a:prstGeom prst="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852928" y="4974336"/>
            <a:ext cx="27432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20" b="0" i="0">
                <a:solidFill>
                  <a:srgbClr val="F5F8FC"/>
                </a:solidFill>
                <a:latin typeface="Aptos"/>
              </a:rPr>
              <a:t>numeric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852160" y="4901183"/>
            <a:ext cx="5212080" cy="457200"/>
          </a:xfrm>
          <a:prstGeom prst="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61888" y="4974336"/>
            <a:ext cx="50292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20" b="0" i="0">
                <a:solidFill>
                  <a:srgbClr val="F5F8FC"/>
                </a:solidFill>
                <a:latin typeface="Aptos"/>
              </a:rPr>
              <a:t>Width of tables/images/cells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0080" y="5367528"/>
            <a:ext cx="2011680" cy="457200"/>
          </a:xfrm>
          <a:prstGeom prst="rect">
            <a:avLst/>
          </a:prstGeom>
          <a:solidFill>
            <a:srgbClr val="0B1220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49808" y="5440680"/>
            <a:ext cx="18288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20" b="1" i="0">
                <a:solidFill>
                  <a:srgbClr val="5DDC91"/>
                </a:solidFill>
                <a:latin typeface="Cascadia Mono"/>
              </a:rPr>
              <a:t>height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0" y="5367528"/>
            <a:ext cx="2926080" cy="457200"/>
          </a:xfrm>
          <a:prstGeom prst="rect">
            <a:avLst/>
          </a:prstGeom>
          <a:solidFill>
            <a:srgbClr val="0B1220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852928" y="5440680"/>
            <a:ext cx="27432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20" b="0" i="0">
                <a:solidFill>
                  <a:srgbClr val="F5F8FC"/>
                </a:solidFill>
                <a:latin typeface="Aptos"/>
              </a:rPr>
              <a:t>numeric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852160" y="5367528"/>
            <a:ext cx="5212080" cy="457200"/>
          </a:xfrm>
          <a:prstGeom prst="rect">
            <a:avLst/>
          </a:prstGeom>
          <a:solidFill>
            <a:srgbClr val="0B1220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961888" y="5440680"/>
            <a:ext cx="50292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20" b="0" i="0">
                <a:solidFill>
                  <a:srgbClr val="F5F8FC"/>
                </a:solidFill>
                <a:latin typeface="Aptos"/>
              </a:rPr>
              <a:t>Height of tables/images/cells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" y="5833872"/>
            <a:ext cx="2011680" cy="457200"/>
          </a:xfrm>
          <a:prstGeom prst="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49808" y="5907024"/>
            <a:ext cx="18288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20" b="1" i="0">
                <a:solidFill>
                  <a:srgbClr val="5DDC91"/>
                </a:solidFill>
                <a:latin typeface="Cascadia Mono"/>
              </a:rPr>
              <a:t>title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43200" y="5833872"/>
            <a:ext cx="2926080" cy="457200"/>
          </a:xfrm>
          <a:prstGeom prst="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2852928" y="5907024"/>
            <a:ext cx="27432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20" b="0" i="0">
                <a:solidFill>
                  <a:srgbClr val="F5F8FC"/>
                </a:solidFill>
                <a:latin typeface="Aptos"/>
              </a:rPr>
              <a:t>user-defined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852160" y="5833872"/>
            <a:ext cx="5212080" cy="457200"/>
          </a:xfrm>
          <a:prstGeom prst="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961888" y="5907024"/>
            <a:ext cx="50292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20" b="0" i="0">
                <a:solidFill>
                  <a:srgbClr val="F5F8FC"/>
                </a:solidFill>
                <a:latin typeface="Aptos"/>
              </a:rPr>
              <a:t>Title/tooltip-like information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5800" y="6144768"/>
            <a:ext cx="107899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50" b="1" i="0">
                <a:solidFill>
                  <a:srgbClr val="F59155"/>
                </a:solidFill>
                <a:latin typeface="Aptos"/>
              </a:rPr>
              <a:t>Source note: several presentational attributes shown here are deprecated in modern HTML; CSS is preferred.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2377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46D2E6"/>
                </a:solidFill>
                <a:latin typeface="Aptos"/>
              </a:rPr>
              <a:t>FORMATTING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"/>
              </a:rPr>
              <a:t>HTML Formatting &amp; Whitespace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7899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 i="0">
                <a:solidFill>
                  <a:srgbClr val="AFBCCF"/>
                </a:solidFill>
                <a:latin typeface="Aptos"/>
              </a:rPr>
              <a:t>Browsers collapse ordinary whitespace.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B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01400" y="6537960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0" i="0">
                <a:solidFill>
                  <a:srgbClr val="AFBCCF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5257800" cy="434340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355080" y="1600200"/>
            <a:ext cx="5257800" cy="434340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47091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46D2E6"/>
                </a:solidFill>
                <a:latin typeface="Aptos"/>
              </a:rPr>
              <a:t>Whitespace collapsing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13432"/>
            <a:ext cx="4709160" cy="34290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6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Multiple consecutive spaces are normally displayed as one space.</a:t>
            </a:r>
          </a:p>
          <a:p>
            <a:pPr>
              <a:spcAft>
                <a:spcPts val="6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New lines in the source are generally treated as whitespace.</a:t>
            </a:r>
          </a:p>
          <a:p>
            <a:pPr>
              <a:spcAft>
                <a:spcPts val="6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Extra blank lines do not automatically create visible vertical gaps.</a:t>
            </a:r>
          </a:p>
          <a:p>
            <a:pPr>
              <a:spcAft>
                <a:spcPts val="6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Use appropriate HTML elements when layout or line breaks are required.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1828800"/>
            <a:ext cx="47091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5DDC91"/>
                </a:solidFill>
                <a:latin typeface="Aptos"/>
              </a:rPr>
              <a:t>Why structure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313432"/>
            <a:ext cx="4709160" cy="34290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6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Long, wide paragraphs are harder to read on the web.</a:t>
            </a:r>
          </a:p>
          <a:p>
            <a:pPr>
              <a:spcAft>
                <a:spcPts val="6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Break content into headings, paragraphs and logical sections.</a:t>
            </a:r>
          </a:p>
          <a:p>
            <a:pPr>
              <a:spcAft>
                <a:spcPts val="6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Formatting should communicate structure, not just appearance.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2377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46D2E6"/>
                </a:solidFill>
                <a:latin typeface="Aptos"/>
              </a:rPr>
              <a:t>FORMATTING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"/>
              </a:rPr>
              <a:t>Headings: &lt;h1&gt; to &lt;h6&gt;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7899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 i="0">
                <a:solidFill>
                  <a:srgbClr val="AFBCCF"/>
                </a:solidFill>
                <a:latin typeface="Aptos"/>
              </a:rPr>
              <a:t>Six heading levels are described in the source.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B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01400" y="6537960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0" i="0">
                <a:solidFill>
                  <a:srgbClr val="AFBCCF"/>
                </a:solidFill>
                <a:latin typeface="Apto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5577840" cy="4480560"/>
          </a:xfrm>
          <a:prstGeom prst="roundRect">
            <a:avLst/>
          </a:prstGeom>
          <a:solidFill>
            <a:srgbClr val="080D16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709928"/>
            <a:ext cx="1097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46D2E6"/>
                </a:solidFill>
                <a:latin typeface="Aptos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011680"/>
            <a:ext cx="5248655" cy="395020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500">
                <a:solidFill>
                  <a:srgbClr val="DEECF7"/>
                </a:solidFill>
                <a:latin typeface="Cascadia Mono"/>
              </a:rPr>
              <a:t>&lt;h1&gt;This is heading 1&lt;/h1&gt;
&lt;h2&gt;This is heading 2&lt;/h2&gt;
&lt;h3&gt;This is heading 3&lt;/h3&gt;
&lt;h4&gt;This is heading 4&lt;/h4&gt;
&lt;h5&gt;This is heading 5&lt;/h5&gt;
&lt;h6&gt;This is heading 6&lt;/h6&gt;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600200"/>
            <a:ext cx="4937760" cy="448056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20840" y="1847088"/>
            <a:ext cx="5943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i="0">
                <a:solidFill>
                  <a:srgbClr val="46D2E6"/>
                </a:solidFill>
                <a:latin typeface="Aptos"/>
              </a:rPr>
              <a:t>H1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1883664"/>
            <a:ext cx="34747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F5F8FC"/>
                </a:solidFill>
                <a:latin typeface="Aptos"/>
              </a:rPr>
              <a:t>Heading level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423160"/>
            <a:ext cx="5943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20" b="1" i="0">
                <a:solidFill>
                  <a:srgbClr val="F5F8FC"/>
                </a:solidFill>
                <a:latin typeface="Aptos"/>
              </a:rPr>
              <a:t>H2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2459736"/>
            <a:ext cx="34747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AFBCCF"/>
                </a:solidFill>
                <a:latin typeface="Aptos"/>
              </a:rPr>
              <a:t>Heading level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2999232"/>
            <a:ext cx="5943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39" b="1" i="0">
                <a:solidFill>
                  <a:srgbClr val="F5F8FC"/>
                </a:solidFill>
                <a:latin typeface="Aptos"/>
              </a:rPr>
              <a:t>H3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3035808"/>
            <a:ext cx="34747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AFBCCF"/>
                </a:solidFill>
                <a:latin typeface="Aptos"/>
              </a:rPr>
              <a:t>Heading level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3575304"/>
            <a:ext cx="5943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60" b="1" i="0">
                <a:solidFill>
                  <a:srgbClr val="F5F8FC"/>
                </a:solidFill>
                <a:latin typeface="Aptos"/>
              </a:rPr>
              <a:t>H4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3611880"/>
            <a:ext cx="34747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AFBCCF"/>
                </a:solidFill>
                <a:latin typeface="Aptos"/>
              </a:rPr>
              <a:t>Heading level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4151376"/>
            <a:ext cx="5943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80" b="1" i="0">
                <a:solidFill>
                  <a:srgbClr val="F5F8FC"/>
                </a:solidFill>
                <a:latin typeface="Aptos"/>
              </a:rPr>
              <a:t>H5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4187952"/>
            <a:ext cx="34747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AFBCCF"/>
                </a:solidFill>
                <a:latin typeface="Aptos"/>
              </a:rPr>
              <a:t>Heading level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727448"/>
            <a:ext cx="5943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100" b="1" i="0">
                <a:solidFill>
                  <a:srgbClr val="F5F8FC"/>
                </a:solidFill>
                <a:latin typeface="Aptos"/>
              </a:rPr>
              <a:t>H6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4764024"/>
            <a:ext cx="34747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AFBCCF"/>
                </a:solidFill>
                <a:latin typeface="Aptos"/>
              </a:rPr>
              <a:t>Heading level 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440680"/>
            <a:ext cx="1371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59155"/>
                </a:solidFill>
                <a:latin typeface="Aptos"/>
              </a:rPr>
              <a:t>Source behavior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5413248"/>
            <a:ext cx="29718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AFBCCF"/>
                </a:solidFill>
                <a:latin typeface="Aptos"/>
              </a:rPr>
              <a:t>The notes state that browsers add a line before and after headings.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2377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46D2E6"/>
                </a:solidFill>
                <a:latin typeface="Aptos"/>
              </a:rPr>
              <a:t>FORMATTING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"/>
              </a:rPr>
              <a:t>Paragraphs: &lt;p&gt;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7899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 i="0">
                <a:solidFill>
                  <a:srgbClr val="AFBCCF"/>
                </a:solidFill>
                <a:latin typeface="Aptos"/>
              </a:rPr>
              <a:t>The paragraph element structures blocks of text.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B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01400" y="6537960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0" i="0">
                <a:solidFill>
                  <a:srgbClr val="AFBCCF"/>
                </a:solidFill>
                <a:latin typeface="Aptos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5486400" cy="2057400"/>
          </a:xfrm>
          <a:prstGeom prst="roundRect">
            <a:avLst/>
          </a:prstGeom>
          <a:solidFill>
            <a:srgbClr val="080D16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709928"/>
            <a:ext cx="1097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46D2E6"/>
                </a:solidFill>
                <a:latin typeface="Aptos"/>
              </a:rPr>
              <a:t>BASIC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011680"/>
            <a:ext cx="5157216" cy="152704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550">
                <a:solidFill>
                  <a:srgbClr val="DEECF7"/>
                </a:solidFill>
                <a:latin typeface="Cascadia Mono"/>
              </a:rPr>
              <a:t>&lt;p&gt;Here is a paragraph of text.&lt;/p&gt;
&lt;p&gt;Here is a second paragraph.&lt;/p&gt;
&lt;p&gt;Here is a third paragraph.&lt;/p&gt;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840480"/>
            <a:ext cx="5486400" cy="2240280"/>
          </a:xfrm>
          <a:prstGeom prst="roundRect">
            <a:avLst/>
          </a:prstGeom>
          <a:solidFill>
            <a:srgbClr val="080D16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1" y="3950208"/>
            <a:ext cx="1097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46D2E6"/>
                </a:solidFill>
                <a:latin typeface="Aptos"/>
              </a:rPr>
              <a:t>SOURCE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4251960"/>
            <a:ext cx="5157216" cy="170992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380">
                <a:solidFill>
                  <a:srgbClr val="DEECF7"/>
                </a:solidFill>
                <a:latin typeface="Cascadia Mono"/>
              </a:rPr>
              <a:t>&lt;p align="left"&gt;Left aligned.&lt;/p&gt;
&lt;p align="center"&gt;Center aligned.&lt;/p&gt;
&lt;p align="right"&gt;Right aligned.&lt;/p&gt;
&lt;p align="justify"&gt;Justified text...&lt;/p&gt;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1600200"/>
            <a:ext cx="4937760" cy="448056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20840" y="1874519"/>
            <a:ext cx="42062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5DDC91"/>
                </a:solidFill>
                <a:latin typeface="Aptos"/>
              </a:rPr>
              <a:t>What the source teaches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2423160"/>
            <a:ext cx="4160520" cy="21031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Every paragraph is enclosed by opening and closing &lt;p&gt; tags.</a:t>
            </a:r>
          </a:p>
          <a:p>
            <a:pPr>
              <a:spcAft>
                <a:spcPts val="10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Paragraphs naturally separate blocks of text.</a:t>
            </a:r>
          </a:p>
          <a:p>
            <a:pPr>
              <a:spcAft>
                <a:spcPts val="10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The source demonstrates the align attribute with left, center, right and justify.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4892040"/>
            <a:ext cx="14630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59155"/>
                </a:solidFill>
                <a:latin typeface="Aptos"/>
              </a:rPr>
              <a:t>Modern practice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5285232"/>
            <a:ext cx="42062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AFBCCF"/>
                </a:solidFill>
                <a:latin typeface="Aptos"/>
              </a:rPr>
              <a:t>Prefer CSS text-align for presentation.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2377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46D2E6"/>
                </a:solidFill>
                <a:latin typeface="Aptos"/>
              </a:rPr>
              <a:t>FORMATTING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"/>
              </a:rPr>
              <a:t>Line Breaks &amp; Centering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7899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 i="0">
                <a:solidFill>
                  <a:srgbClr val="AFBCCF"/>
                </a:solidFill>
                <a:latin typeface="Aptos"/>
              </a:rPr>
              <a:t>&lt;br /&gt; and &lt;center&gt; in the source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B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01400" y="6537960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0" i="0">
                <a:solidFill>
                  <a:srgbClr val="AFBCCF"/>
                </a:solidFill>
                <a:latin typeface="Aptos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5257800" cy="425196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355080" y="1600200"/>
            <a:ext cx="5257800" cy="425196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47091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46D2E6"/>
                </a:solidFill>
                <a:latin typeface="Aptos"/>
              </a:rPr>
              <a:t>&lt;br /&gt; — line break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13432"/>
            <a:ext cx="4709160" cy="33375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6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Starts following content on the next line.</a:t>
            </a:r>
          </a:p>
          <a:p>
            <a:pPr>
              <a:spcAft>
                <a:spcPts val="6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The source treats it as an empty element.</a:t>
            </a:r>
          </a:p>
          <a:p>
            <a:pPr>
              <a:spcAft>
                <a:spcPts val="6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The source uses XHTML-style &lt;br /&gt; syntax.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1828800"/>
            <a:ext cx="47091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5DDC91"/>
                </a:solidFill>
                <a:latin typeface="Aptos"/>
              </a:rPr>
              <a:t>&lt;center&gt; — centering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313432"/>
            <a:ext cx="4709160" cy="33375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6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The source uses &lt;center&gt; to place content in the center.</a:t>
            </a:r>
          </a:p>
          <a:p>
            <a:pPr>
              <a:spcAft>
                <a:spcPts val="6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It can be applied to page content or a table cell.</a:t>
            </a:r>
          </a:p>
          <a:p>
            <a:pPr>
              <a:spcAft>
                <a:spcPts val="6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The source's tag is presentational and should be treated as legacy markup.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4892040"/>
            <a:ext cx="6675120" cy="1097280"/>
          </a:xfrm>
          <a:prstGeom prst="roundRect">
            <a:avLst/>
          </a:prstGeom>
          <a:solidFill>
            <a:srgbClr val="080D16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07792" y="5001768"/>
            <a:ext cx="1097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46D2E6"/>
                </a:solidFill>
                <a:latin typeface="Aptos"/>
              </a:rPr>
              <a:t>SOURCE 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7792" y="5303520"/>
            <a:ext cx="6345936" cy="56692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150">
                <a:solidFill>
                  <a:srgbClr val="DEECF7"/>
                </a:solidFill>
                <a:latin typeface="Cascadia Mono"/>
              </a:rPr>
              <a:t>Hello&lt;br /&gt;
You come most carefully upon your hour.&lt;br /&gt;
Thanks&lt;br /&gt;
Mahnaz
&lt;center&gt;
  &lt;p&gt;This is in the center.&lt;/p&gt;
&lt;/center&gt;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2377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46D2E6"/>
                </a:solidFill>
                <a:latin typeface="Aptos"/>
              </a:rPr>
              <a:t>FORMATTING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"/>
              </a:rPr>
              <a:t>Preserve Formatting with &lt;pre&gt;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7899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 i="0">
                <a:solidFill>
                  <a:srgbClr val="AFBCCF"/>
                </a:solidFill>
                <a:latin typeface="Aptos"/>
              </a:rPr>
              <a:t>Preformatted text keeps source spacing and line breaks.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B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01400" y="6537960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0" i="0">
                <a:solidFill>
                  <a:srgbClr val="AFBCCF"/>
                </a:solidFill>
                <a:latin typeface="Aptos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45920"/>
            <a:ext cx="5577840" cy="3108960"/>
          </a:xfrm>
          <a:prstGeom prst="roundRect">
            <a:avLst/>
          </a:prstGeom>
          <a:solidFill>
            <a:srgbClr val="080D16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755648"/>
            <a:ext cx="1097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46D2E6"/>
                </a:solidFill>
                <a:latin typeface="Aptos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057400"/>
            <a:ext cx="5248655" cy="257860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500">
                <a:solidFill>
                  <a:srgbClr val="DEECF7"/>
                </a:solidFill>
                <a:latin typeface="Cascadia Mono"/>
              </a:rPr>
              <a:t>&lt;pre&gt;
                  *
         *                 *
*                 *                   *
&lt;/pre&gt;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60" y="1645920"/>
            <a:ext cx="4800600" cy="310896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12280" y="1920240"/>
            <a:ext cx="38404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46D2E6"/>
                </a:solidFill>
                <a:latin typeface="Aptos"/>
              </a:rPr>
              <a:t>What &lt;pre&gt; does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2468880"/>
            <a:ext cx="3886200" cy="16916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Preserves the formatting of the source text.</a:t>
            </a:r>
          </a:p>
          <a:p>
            <a:pPr>
              <a:spcAft>
                <a:spcPts val="10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Useful when spacing and line breaks are meaningful.</a:t>
            </a:r>
          </a:p>
          <a:p>
            <a:pPr>
              <a:spcAft>
                <a:spcPts val="10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t>• The source shows ASCII-style artwork as an example.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166360"/>
            <a:ext cx="53035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5DDC91"/>
                </a:solidFill>
                <a:latin typeface="Aptos"/>
              </a:rPr>
              <a:t>Think: pre = preformatted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2377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46D2E6"/>
                </a:solidFill>
                <a:latin typeface="Aptos"/>
              </a:rPr>
              <a:t>FORMATTING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"/>
              </a:rPr>
              <a:t>Horizontal Rule: &lt;hr /&gt;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7899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 i="0">
                <a:solidFill>
                  <a:srgbClr val="AFBCCF"/>
                </a:solidFill>
                <a:latin typeface="Aptos"/>
              </a:rPr>
              <a:t>A visual separator between sections.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B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01400" y="6537960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0" i="0">
                <a:solidFill>
                  <a:srgbClr val="AFBCCF"/>
                </a:solidFill>
                <a:latin typeface="Aptos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45920"/>
            <a:ext cx="6400800" cy="2286000"/>
          </a:xfrm>
          <a:prstGeom prst="roundRect">
            <a:avLst/>
          </a:prstGeom>
          <a:solidFill>
            <a:srgbClr val="080D16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755648"/>
            <a:ext cx="1097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46D2E6"/>
                </a:solidFill>
                <a:latin typeface="Aptos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057400"/>
            <a:ext cx="6071616" cy="175564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450">
                <a:solidFill>
                  <a:srgbClr val="DEECF7"/>
                </a:solidFill>
                <a:latin typeface="Cascadia Mono"/>
              </a:rPr>
              <a:t>&lt;p&gt;This is paragraph one and should be on top&lt;/p&gt;
&lt;hr /&gt;
&lt;p&gt;This is paragraph two and should be at bottom&lt;/p&gt;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1645920"/>
            <a:ext cx="3977639" cy="228600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35240" y="1920240"/>
            <a:ext cx="20116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46D2E6"/>
                </a:solidFill>
                <a:latin typeface="Aptos"/>
              </a:rPr>
              <a:t>Purpose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2487168"/>
            <a:ext cx="320040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0" i="0">
                <a:solidFill>
                  <a:srgbClr val="F5F8FC"/>
                </a:solidFill>
                <a:latin typeface="Aptos"/>
              </a:rPr>
              <a:t>Creates a horizontal line that visually breaks up sections.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3429000"/>
            <a:ext cx="31546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 i="0">
                <a:solidFill>
                  <a:srgbClr val="AFBCCF"/>
                </a:solidFill>
                <a:latin typeface="Aptos"/>
              </a:rPr>
              <a:t>The source also treats &lt;hr /&gt; as an empty element.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0"/>
            <a:ext cx="1828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59155"/>
                </a:solidFill>
                <a:latin typeface="Aptos"/>
              </a:rPr>
              <a:t>Legacy syntax note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983480"/>
            <a:ext cx="100584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F5F8FC"/>
                </a:solidFill>
                <a:latin typeface="Aptos"/>
              </a:rPr>
              <a:t>The PDF discusses XHTML-style self-closing syntax; modern HTML commonly writes &lt;hr&gt;.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2377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46D2E6"/>
                </a:solidFill>
                <a:latin typeface="Aptos"/>
              </a:rPr>
              <a:t>FORMATTING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"/>
              </a:rPr>
              <a:t>Presentational Text Formatting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7899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 i="0">
                <a:solidFill>
                  <a:srgbClr val="AFBCCF"/>
                </a:solidFill>
                <a:latin typeface="Aptos"/>
              </a:rPr>
              <a:t>Basic visual formatting elements covered by the source.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B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01400" y="6537960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0" i="0">
                <a:solidFill>
                  <a:srgbClr val="AFBCCF"/>
                </a:solidFill>
                <a:latin typeface="Aptos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5074920" cy="658368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764792"/>
            <a:ext cx="13258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46D2E6"/>
                </a:solidFill>
                <a:latin typeface="Cascadia Mono"/>
              </a:rPr>
              <a:t>&lt;b&gt;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764792"/>
            <a:ext cx="31089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50" b="0" i="0">
                <a:solidFill>
                  <a:srgbClr val="F5F8FC"/>
                </a:solidFill>
                <a:latin typeface="Aptos"/>
              </a:rPr>
              <a:t>bold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450592"/>
            <a:ext cx="5074920" cy="658368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6968" y="2615184"/>
            <a:ext cx="13258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46D2E6"/>
                </a:solidFill>
                <a:latin typeface="Cascadia Mono"/>
              </a:rPr>
              <a:t>&lt;i&gt;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615184"/>
            <a:ext cx="31089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50" b="0" i="0">
                <a:solidFill>
                  <a:srgbClr val="F5F8FC"/>
                </a:solidFill>
                <a:latin typeface="Aptos"/>
              </a:rPr>
              <a:t>italic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300984"/>
            <a:ext cx="5074920" cy="658368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6968" y="3465576"/>
            <a:ext cx="13258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46D2E6"/>
                </a:solidFill>
                <a:latin typeface="Cascadia Mono"/>
              </a:rPr>
              <a:t>&lt;u&gt;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465576"/>
            <a:ext cx="31089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50" b="0" i="0">
                <a:solidFill>
                  <a:srgbClr val="F5F8FC"/>
                </a:solidFill>
                <a:latin typeface="Aptos"/>
              </a:rPr>
              <a:t>underline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151376"/>
            <a:ext cx="5074920" cy="658368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6968" y="4315968"/>
            <a:ext cx="13258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46D2E6"/>
                </a:solidFill>
                <a:latin typeface="Cascadia Mono"/>
              </a:rPr>
              <a:t>&lt;strike&gt;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4315968"/>
            <a:ext cx="31089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50" b="0" i="0">
                <a:solidFill>
                  <a:srgbClr val="F5F8FC"/>
                </a:solidFill>
                <a:latin typeface="Aptos"/>
              </a:rPr>
              <a:t>strikethrough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001768"/>
            <a:ext cx="5074920" cy="658368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6968" y="5166360"/>
            <a:ext cx="13258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46D2E6"/>
                </a:solidFill>
                <a:latin typeface="Cascadia Mono"/>
              </a:rPr>
              <a:t>&lt;tt&gt;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5166360"/>
            <a:ext cx="31089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50" b="0" i="0">
                <a:solidFill>
                  <a:srgbClr val="F5F8FC"/>
                </a:solidFill>
                <a:latin typeface="Aptos"/>
              </a:rPr>
              <a:t>monospaced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1600200"/>
            <a:ext cx="5074920" cy="658368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56248" y="1764792"/>
            <a:ext cx="13258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5DDC91"/>
                </a:solidFill>
                <a:latin typeface="Cascadia Mono"/>
              </a:rPr>
              <a:t>&lt;sup&gt;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1764792"/>
            <a:ext cx="31089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50" b="0" i="0">
                <a:solidFill>
                  <a:srgbClr val="F5F8FC"/>
                </a:solidFill>
                <a:latin typeface="Aptos"/>
              </a:rPr>
              <a:t>superscript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2450592"/>
            <a:ext cx="5074920" cy="658368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56248" y="2615184"/>
            <a:ext cx="13258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5DDC91"/>
                </a:solidFill>
                <a:latin typeface="Cascadia Mono"/>
              </a:rPr>
              <a:t>&lt;sub&gt;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2615184"/>
            <a:ext cx="31089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50" b="0" i="0">
                <a:solidFill>
                  <a:srgbClr val="F5F8FC"/>
                </a:solidFill>
                <a:latin typeface="Aptos"/>
              </a:rPr>
              <a:t>subscript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3300984"/>
            <a:ext cx="5074920" cy="658368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56248" y="3465576"/>
            <a:ext cx="13258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5DDC91"/>
                </a:solidFill>
                <a:latin typeface="Cascadia Mono"/>
              </a:rPr>
              <a:t>&lt;big&gt;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3465576"/>
            <a:ext cx="31089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50" b="0" i="0">
                <a:solidFill>
                  <a:srgbClr val="F5F8FC"/>
                </a:solidFill>
                <a:latin typeface="Aptos"/>
              </a:rPr>
              <a:t>one size larger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4151376"/>
            <a:ext cx="5074920" cy="658368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56248" y="4315968"/>
            <a:ext cx="13258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5DDC91"/>
                </a:solidFill>
                <a:latin typeface="Cascadia Mono"/>
              </a:rPr>
              <a:t>&lt;small&gt;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4315968"/>
            <a:ext cx="31089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50" b="0" i="0">
                <a:solidFill>
                  <a:srgbClr val="F5F8FC"/>
                </a:solidFill>
                <a:latin typeface="Aptos"/>
              </a:rPr>
              <a:t>one size smaller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989320"/>
            <a:ext cx="73152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AFBCCF"/>
                </a:solidFill>
                <a:latin typeface="Aptos"/>
              </a:rPr>
              <a:t>Source examples use each tag inside a &lt;p&gt; element.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2377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46D2E6"/>
                </a:solidFill>
                <a:latin typeface="Aptos"/>
              </a:rPr>
              <a:t>FORMATTING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"/>
              </a:rPr>
              <a:t>Formatting Examples in One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7899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 i="0">
                <a:solidFill>
                  <a:srgbClr val="AFBCCF"/>
                </a:solidFill>
                <a:latin typeface="Aptos"/>
              </a:rPr>
              <a:t>A compact demonstration of the tags.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B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01400" y="6537960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0" i="0">
                <a:solidFill>
                  <a:srgbClr val="AFBCCF"/>
                </a:solidFill>
                <a:latin typeface="Aptos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5852160" cy="4526280"/>
          </a:xfrm>
          <a:prstGeom prst="roundRect">
            <a:avLst/>
          </a:prstGeom>
          <a:solidFill>
            <a:srgbClr val="080D16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709928"/>
            <a:ext cx="1097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46D2E6"/>
                </a:solidFill>
                <a:latin typeface="Aptos"/>
              </a:rPr>
              <a:t>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011680"/>
            <a:ext cx="5522976" cy="399592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450">
                <a:solidFill>
                  <a:srgbClr val="DEECF7"/>
                </a:solidFill>
                <a:latin typeface="Cascadia Mono"/>
              </a:rPr>
              <a:t>&lt;p&gt;&lt;b&gt;Bold&lt;/b&gt;&lt;/p&gt;
&lt;p&gt;&lt;i&gt;Italic&lt;/i&gt;&lt;/p&gt;
&lt;p&gt;&lt;u&gt;Underlined&lt;/u&gt;&lt;/p&gt;
&lt;p&gt;&lt;strike&gt;Struck text&lt;/strike&gt;&lt;/p&gt;
&lt;p&gt;&lt;tt&gt;Monospaced&lt;/tt&gt;&lt;/p&gt;
&lt;p&gt;x&lt;sup&gt;2&lt;/sup&gt; and H&lt;sub&gt;2&lt;/sub&gt;O&lt;/p&gt;
&lt;p&gt;&lt;big&gt;Big&lt;/big&gt; and &lt;small&gt;Small&lt;/small&gt;&lt;/p&gt;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1600200"/>
            <a:ext cx="4526280" cy="452628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86600" y="1874519"/>
            <a:ext cx="32004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5DDC91"/>
                </a:solidFill>
                <a:latin typeface="Aptos"/>
              </a:rPr>
              <a:t>Rendered idea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468880"/>
            <a:ext cx="36576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1" i="0">
                <a:solidFill>
                  <a:srgbClr val="F5F8FC"/>
                </a:solidFill>
                <a:latin typeface="Aptos"/>
              </a:rPr>
              <a:t>Bold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2971800"/>
            <a:ext cx="36576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0" i="1">
                <a:solidFill>
                  <a:srgbClr val="F5F8FC"/>
                </a:solidFill>
                <a:latin typeface="Aptos"/>
              </a:rPr>
              <a:t>Italic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3474720"/>
            <a:ext cx="36576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0" i="0">
                <a:solidFill>
                  <a:srgbClr val="F5F8FC"/>
                </a:solidFill>
                <a:latin typeface="Aptos"/>
              </a:rPr>
              <a:t>Underlined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3977639"/>
            <a:ext cx="36576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0" i="0">
                <a:solidFill>
                  <a:srgbClr val="F5F8FC"/>
                </a:solidFill>
                <a:latin typeface="Aptos"/>
              </a:rPr>
              <a:t>Struck 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4480560"/>
            <a:ext cx="36576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0" i="0">
                <a:solidFill>
                  <a:srgbClr val="F5F8FC"/>
                </a:solidFill>
                <a:latin typeface="Aptos"/>
              </a:rPr>
              <a:t>x² and H₂O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4983480"/>
            <a:ext cx="36576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0" i="0">
                <a:solidFill>
                  <a:srgbClr val="F5F8FC"/>
                </a:solidFill>
                <a:latin typeface="Aptos"/>
              </a:rPr>
              <a:t>big / small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2377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46D2E6"/>
                </a:solidFill>
                <a:latin typeface="Aptos"/>
              </a:rPr>
              <a:t>FORMATTING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"/>
              </a:rPr>
              <a:t>HTML Phrase Tags: &lt;em&gt; and &lt;strong&gt;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7899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 i="0">
                <a:solidFill>
                  <a:srgbClr val="AFBCCF"/>
                </a:solidFill>
                <a:latin typeface="Aptos"/>
              </a:rPr>
              <a:t>Meaning-oriented emphasis in the source.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B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01400" y="6537960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0" i="0">
                <a:solidFill>
                  <a:srgbClr val="AFBCCF"/>
                </a:solidFill>
                <a:latin typeface="Aptos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45920"/>
            <a:ext cx="6400800" cy="2057400"/>
          </a:xfrm>
          <a:prstGeom prst="roundRect">
            <a:avLst/>
          </a:prstGeom>
          <a:solidFill>
            <a:srgbClr val="080D16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755648"/>
            <a:ext cx="1097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46D2E6"/>
                </a:solidFill>
                <a:latin typeface="Aptos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057400"/>
            <a:ext cx="6071616" cy="152704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500">
                <a:solidFill>
                  <a:srgbClr val="DEECF7"/>
                </a:solidFill>
                <a:latin typeface="Cascadia Mono"/>
              </a:rPr>
              <a:t>&lt;p&gt;You &lt;em&gt;must&lt;/em&gt; remember to close elements.&lt;/p&gt;
&lt;p&gt;You &lt;strong&gt;must&lt;/strong&gt; remember to close elements.&lt;/p&gt;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1645920"/>
            <a:ext cx="3977639" cy="342900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35240" y="1965960"/>
            <a:ext cx="12801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1" i="0">
                <a:solidFill>
                  <a:srgbClr val="46D2E6"/>
                </a:solidFill>
                <a:latin typeface="Cascadia Mono"/>
              </a:rPr>
              <a:t>&lt;em&gt;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2468880"/>
            <a:ext cx="324612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F5F8FC"/>
                </a:solidFill>
                <a:latin typeface="Aptos"/>
              </a:rPr>
              <a:t>Used for emphasis; the source notes it is usually rendered in italics.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3611880"/>
            <a:ext cx="18288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1" i="0">
                <a:solidFill>
                  <a:srgbClr val="5DDC91"/>
                </a:solidFill>
                <a:latin typeface="Cascadia Mono"/>
              </a:rPr>
              <a:t>&lt;strong&gt;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114800"/>
            <a:ext cx="3246120" cy="7772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F5F8FC"/>
                </a:solidFill>
                <a:latin typeface="Aptos"/>
              </a:rPr>
              <a:t>Used for strong emphasis, described as stronger than &lt;em&gt;.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621792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AFBCCF"/>
                </a:solidFill>
                <a:latin typeface="Aptos"/>
              </a:rPr>
              <a:t>Teaching point: emphasis conveys meaning, not just appearance.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2377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46D2E6"/>
                </a:solidFill>
                <a:latin typeface="Aptos"/>
              </a:rPr>
              <a:t>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"/>
              </a:rPr>
              <a:t>Block-Level vs Inline Elements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7899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 i="0">
                <a:solidFill>
                  <a:srgbClr val="AFBCCF"/>
                </a:solidFill>
                <a:latin typeface="Aptos"/>
              </a:rPr>
              <a:t>How elements participate in document flow.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B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01400" y="6537960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0" i="0">
                <a:solidFill>
                  <a:srgbClr val="AFBCCF"/>
                </a:solidFill>
                <a:latin typeface="Aptos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5303520" cy="452628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874519"/>
            <a:ext cx="40233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46D2E6"/>
                </a:solidFill>
                <a:latin typeface="Aptos"/>
              </a:rPr>
              <a:t>Block-level elements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95728"/>
            <a:ext cx="43891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F5F8FC"/>
                </a:solidFill>
                <a:latin typeface="Aptos"/>
              </a:rPr>
              <a:t>Start on their own line and behave like a new block.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154680"/>
            <a:ext cx="448056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DEECF7"/>
                </a:solidFill>
                <a:latin typeface="Cascadia Mono"/>
              </a:rPr>
              <a:t>&lt;p&gt; &lt;h1&gt;…&lt;h6&gt; &lt;ul&gt; &lt;ol&gt; &lt;dl&gt;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03320"/>
            <a:ext cx="448056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DEECF7"/>
                </a:solidFill>
                <a:latin typeface="Cascadia Mono"/>
              </a:rPr>
              <a:t>&lt;pre&gt; &lt;hr&gt; &lt;blockquote&gt; &lt;address&gt;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600200"/>
            <a:ext cx="5212080" cy="452628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1874519"/>
            <a:ext cx="40233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5DDC91"/>
                </a:solidFill>
                <a:latin typeface="Aptos"/>
              </a:rPr>
              <a:t>Inline elements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395728"/>
            <a:ext cx="42976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F5F8FC"/>
                </a:solidFill>
                <a:latin typeface="Aptos"/>
              </a:rPr>
              <a:t>Can appear within a sentence without forcing a new line.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154680"/>
            <a:ext cx="448056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DEECF7"/>
                </a:solidFill>
                <a:latin typeface="Cascadia Mono"/>
              </a:rPr>
              <a:t>&lt;b&gt; &lt;i&gt; &lt;u&gt; &lt;em&gt; &lt;strong&gt;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703320"/>
            <a:ext cx="448056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DEECF7"/>
                </a:solidFill>
                <a:latin typeface="Cascadia Mono"/>
              </a:rPr>
              <a:t>&lt;sup&gt; &lt;sub&gt; &lt;big&gt; &lt;small&gt; &lt;li&gt;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251960"/>
            <a:ext cx="448056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DEECF7"/>
                </a:solidFill>
                <a:latin typeface="Cascadia Mono"/>
              </a:rPr>
              <a:t>&lt;code&gt; &lt;cite&gt; &lt;dfn&gt; &lt;kbd&gt; &lt;var&gt;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2377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46D2E6"/>
                </a:solidFill>
                <a:latin typeface="Aptos"/>
              </a:rPr>
              <a:t>CODE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"/>
              </a:rPr>
              <a:t>HTML Comments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7899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 i="0">
                <a:solidFill>
                  <a:srgbClr val="AFBCCF"/>
                </a:solidFill>
                <a:latin typeface="Aptos"/>
              </a:rPr>
              <a:t>Comments are ignored by the browser.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B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01400" y="6537960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0" i="0">
                <a:solidFill>
                  <a:srgbClr val="AFBCCF"/>
                </a:solidFill>
                <a:latin typeface="Aptos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45920"/>
            <a:ext cx="5486400" cy="2148840"/>
          </a:xfrm>
          <a:prstGeom prst="roundRect">
            <a:avLst/>
          </a:prstGeom>
          <a:solidFill>
            <a:srgbClr val="080D16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755648"/>
            <a:ext cx="1097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46D2E6"/>
                </a:solidFill>
                <a:latin typeface="Aptos"/>
              </a:rPr>
              <a:t>SINGLE-LINE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057400"/>
            <a:ext cx="5157216" cy="161848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500">
                <a:solidFill>
                  <a:srgbClr val="DEECF7"/>
                </a:solidFill>
                <a:latin typeface="Cascadia Mono"/>
              </a:rPr>
              <a:t>&lt;!-- This is commented out --&gt;
&lt;p&gt;Visible content&lt;/p&gt;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069080"/>
            <a:ext cx="5486400" cy="1691640"/>
          </a:xfrm>
          <a:prstGeom prst="roundRect">
            <a:avLst/>
          </a:prstGeom>
          <a:solidFill>
            <a:srgbClr val="080D16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" y="4178808"/>
            <a:ext cx="1097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46D2E6"/>
                </a:solidFill>
                <a:latin typeface="Aptos"/>
              </a:rPr>
              <a:t>MULTILINE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4480560"/>
            <a:ext cx="5157216" cy="116128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500">
                <a:solidFill>
                  <a:srgbClr val="DEECF7"/>
                </a:solidFill>
                <a:latin typeface="Cascadia Mono"/>
              </a:rPr>
              <a:t>&lt;!--
This is a multiline comment.
It can span several lines.
--&gt;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1645920"/>
            <a:ext cx="4800600" cy="411480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66560" y="1901952"/>
            <a:ext cx="39319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46D2E6"/>
                </a:solidFill>
                <a:latin typeface="Aptos"/>
              </a:rPr>
              <a:t>Rules highlighted by the source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468880"/>
            <a:ext cx="3886200" cy="2651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700"/>
              </a:spcAft>
              <a:defRPr sz="1450">
                <a:solidFill>
                  <a:srgbClr val="F5F8FC"/>
                </a:solidFill>
                <a:latin typeface="Aptos"/>
              </a:defRPr>
            </a:pPr>
            <a:r>
              <a:t>• Comments use &lt;!-- and --&gt;.</a:t>
            </a:r>
          </a:p>
          <a:p>
            <a:pPr>
              <a:spcAft>
                <a:spcPts val="700"/>
              </a:spcAft>
              <a:defRPr sz="1450">
                <a:solidFill>
                  <a:srgbClr val="F5F8FC"/>
                </a:solidFill>
                <a:latin typeface="Aptos"/>
              </a:defRPr>
            </a:pPr>
            <a:r>
              <a:t>• Comments help document complex code.</a:t>
            </a:r>
          </a:p>
          <a:p>
            <a:pPr>
              <a:spcAft>
                <a:spcPts val="700"/>
              </a:spcAft>
              <a:defRPr sz="1450">
                <a:solidFill>
                  <a:srgbClr val="F5F8FC"/>
                </a:solidFill>
                <a:latin typeface="Aptos"/>
              </a:defRPr>
            </a:pPr>
            <a:r>
              <a:t>• Comments do not nest.</a:t>
            </a:r>
          </a:p>
          <a:p>
            <a:pPr>
              <a:spcAft>
                <a:spcPts val="700"/>
              </a:spcAft>
              <a:defRPr sz="1450">
                <a:solidFill>
                  <a:srgbClr val="F5F8FC"/>
                </a:solidFill>
                <a:latin typeface="Aptos"/>
              </a:defRPr>
            </a:pPr>
            <a:r>
              <a:t>• The double-dash sequence -- should not appear inside a comment except in the closing sequence.</a:t>
            </a:r>
          </a:p>
          <a:p>
            <a:pPr>
              <a:spcAft>
                <a:spcPts val="700"/>
              </a:spcAft>
              <a:defRPr sz="1450">
                <a:solidFill>
                  <a:srgbClr val="F5F8FC"/>
                </a:solidFill>
                <a:latin typeface="Aptos"/>
              </a:defRPr>
            </a:pPr>
            <a:r>
              <a:t>• There must be no space in the opening comment marker.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2377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46D2E6"/>
                </a:solidFill>
                <a:latin typeface="Aptos"/>
              </a:rPr>
              <a:t>CODE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"/>
              </a:rPr>
              <a:t>Comments: Valid vs Invalid Syntax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7899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 i="0">
                <a:solidFill>
                  <a:srgbClr val="AFBCCF"/>
                </a:solidFill>
                <a:latin typeface="Aptos"/>
              </a:rPr>
              <a:t>A small syntax detail can change browser behavior.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B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01400" y="6537960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0" i="0">
                <a:solidFill>
                  <a:srgbClr val="AFBCCF"/>
                </a:solidFill>
                <a:latin typeface="Aptos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91640"/>
            <a:ext cx="5486400" cy="2834640"/>
          </a:xfrm>
          <a:prstGeom prst="roundRect">
            <a:avLst/>
          </a:prstGeom>
          <a:solidFill>
            <a:srgbClr val="080D16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801368"/>
            <a:ext cx="1097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46D2E6"/>
                </a:solidFill>
                <a:latin typeface="Aptos"/>
              </a:rPr>
              <a:t>COMPARE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103120"/>
            <a:ext cx="5157216" cy="230428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500">
                <a:solidFill>
                  <a:srgbClr val="DEECF7"/>
                </a:solidFill>
                <a:latin typeface="Cascadia Mono"/>
              </a:rPr>
              <a:t>VALID
&lt;!-- This is commented out --&gt;
INVALID
&lt; !-- This may be displayed --&gt;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691640"/>
            <a:ext cx="4754880" cy="283464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66560" y="1965960"/>
            <a:ext cx="9144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1" i="0">
                <a:solidFill>
                  <a:srgbClr val="F5646E"/>
                </a:solidFill>
                <a:latin typeface="Aptos"/>
              </a:rPr>
              <a:t>Why?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560320"/>
            <a:ext cx="3931920" cy="11887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F5F8FC"/>
                </a:solidFill>
                <a:latin typeface="Aptos"/>
              </a:rPr>
              <a:t>The source says the space between &lt; and ! prevents the browser from treating it as a proper comment opening.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92040"/>
            <a:ext cx="1371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5DDC91"/>
                </a:solidFill>
                <a:latin typeface="Aptos"/>
              </a:rPr>
              <a:t>Best practice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4846320"/>
            <a:ext cx="87782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50" b="0" i="0">
                <a:solidFill>
                  <a:srgbClr val="AFBCCF"/>
                </a:solidFill>
                <a:latin typeface="Aptos"/>
              </a:rPr>
              <a:t>Keep comments clear, correctly delimited, and useful to future readers.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2377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46D2E6"/>
                </a:solidFill>
                <a:latin typeface="Aptos"/>
              </a:rPr>
              <a:t>FONTS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"/>
              </a:rPr>
              <a:t>HTML Fonts — Source Topic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7899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 i="0">
                <a:solidFill>
                  <a:srgbClr val="AFBCCF"/>
                </a:solidFill>
                <a:latin typeface="Aptos"/>
              </a:rPr>
              <a:t>The PDF demonstrates &lt;font&gt; and &lt;basefont&gt;.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B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01400" y="6537960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0" i="0">
                <a:solidFill>
                  <a:srgbClr val="AFBCCF"/>
                </a:solidFill>
                <a:latin typeface="Aptos"/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5257800" cy="434340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355080" y="1600200"/>
            <a:ext cx="5257800" cy="434340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47091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46D2E6"/>
                </a:solidFill>
                <a:latin typeface="Aptos"/>
              </a:rPr>
              <a:t>What the source shows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13432"/>
            <a:ext cx="4709160" cy="34290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6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&lt;font&gt; can set size, face and color.</a:t>
            </a:r>
          </a:p>
          <a:p>
            <a:pPr>
              <a:spcAft>
                <a:spcPts val="6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The text remains affected until &lt;/font&gt; closes the element.</a:t>
            </a:r>
          </a:p>
          <a:p>
            <a:pPr>
              <a:spcAft>
                <a:spcPts val="6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The source also introduces &lt;basefont&gt; for common font settings.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1828800"/>
            <a:ext cx="47091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5DDC91"/>
                </a:solidFill>
                <a:latin typeface="Aptos"/>
              </a:rPr>
              <a:t>Important source note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313432"/>
            <a:ext cx="4709160" cy="34290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6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The PDF explicitly calls &lt;font&gt; and &lt;basefont&gt; deprecated.</a:t>
            </a:r>
          </a:p>
          <a:p>
            <a:pPr>
              <a:spcAft>
                <a:spcPts val="6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It recommends using CSS to manipulate fonts instead.</a:t>
            </a:r>
          </a:p>
          <a:p>
            <a:pPr>
              <a:spcAft>
                <a:spcPts val="6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The following slides preserve the examples because they are part of the supplied notes.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2377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46D2E6"/>
                </a:solidFill>
                <a:latin typeface="Aptos"/>
              </a:rPr>
              <a:t>FONTS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"/>
              </a:rPr>
              <a:t>Font Size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7899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 i="0">
                <a:solidFill>
                  <a:srgbClr val="AFBCCF"/>
                </a:solidFill>
                <a:latin typeface="Aptos"/>
              </a:rPr>
              <a:t>The source describes sizes 1 through 7.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B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01400" y="6537960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0" i="0">
                <a:solidFill>
                  <a:srgbClr val="AFBCCF"/>
                </a:solidFill>
                <a:latin typeface="Aptos"/>
              </a:rP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5669280" cy="4434840"/>
          </a:xfrm>
          <a:prstGeom prst="roundRect">
            <a:avLst/>
          </a:prstGeom>
          <a:solidFill>
            <a:srgbClr val="080D16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709928"/>
            <a:ext cx="1097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46D2E6"/>
                </a:solidFill>
                <a:latin typeface="Aptos"/>
              </a:rPr>
              <a:t>SOURCE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011680"/>
            <a:ext cx="5340096" cy="3904487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280">
                <a:solidFill>
                  <a:srgbClr val="DEECF7"/>
                </a:solidFill>
                <a:latin typeface="Cascadia Mono"/>
              </a:rPr>
              <a:t>&lt;font size="1"&gt;Font size="1"&lt;/font&gt;
&lt;font size="2"&gt;Font size="2"&lt;/font&gt;
&lt;font size="3"&gt;Font size="3"&lt;/font&gt;
&lt;font size="4"&gt;Font size="4"&lt;/font&gt;
&lt;font size="5"&gt;Font size="5"&lt;/font&gt;
&lt;font size="6"&gt;Font size="6"&lt;/font&gt;
&lt;font size="7"&gt;Font size="7"&lt;/font&gt;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1600200"/>
            <a:ext cx="4663440" cy="443484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03720" y="1874519"/>
            <a:ext cx="34747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46D2E6"/>
                </a:solidFill>
                <a:latin typeface="Aptos"/>
              </a:rPr>
              <a:t>Source details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2423160"/>
            <a:ext cx="3657600" cy="19659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10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Accepted range shown: 1 (smallest) to 7 (largest).</a:t>
            </a:r>
          </a:p>
          <a:p>
            <a:pPr>
              <a:spcAft>
                <a:spcPts val="10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The source states the default size is 3.</a:t>
            </a:r>
          </a:p>
          <a:p>
            <a:pPr>
              <a:spcAft>
                <a:spcPts val="10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Relative sizes can also be specified using +n or -n.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4709160"/>
            <a:ext cx="12801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59155"/>
                </a:solidFill>
                <a:latin typeface="Aptos"/>
              </a:rPr>
              <a:t>Modern note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5074920"/>
            <a:ext cx="34747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AFBCCF"/>
                </a:solidFill>
                <a:latin typeface="Aptos"/>
              </a:rPr>
              <a:t>Use CSS font-size instead of &lt;font&gt;.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2377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46D2E6"/>
                </a:solidFill>
                <a:latin typeface="Aptos"/>
              </a:rPr>
              <a:t>FONTS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"/>
              </a:rPr>
              <a:t>Relative Font Size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7899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 i="0">
                <a:solidFill>
                  <a:srgbClr val="AFBCCF"/>
                </a:solidFill>
                <a:latin typeface="Aptos"/>
              </a:rPr>
              <a:t>Adjusting size relative to the preset value.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B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01400" y="6537960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0" i="0">
                <a:solidFill>
                  <a:srgbClr val="AFBCCF"/>
                </a:solidFill>
                <a:latin typeface="Aptos"/>
              </a:rPr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45920"/>
            <a:ext cx="5852160" cy="3383280"/>
          </a:xfrm>
          <a:prstGeom prst="roundRect">
            <a:avLst/>
          </a:prstGeom>
          <a:solidFill>
            <a:srgbClr val="080D16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755648"/>
            <a:ext cx="1097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46D2E6"/>
                </a:solidFill>
                <a:latin typeface="Aptos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057400"/>
            <a:ext cx="5522976" cy="285292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400">
                <a:solidFill>
                  <a:srgbClr val="DEECF7"/>
                </a:solidFill>
                <a:latin typeface="Cascadia Mono"/>
              </a:rPr>
              <a:t>&lt;font size="-1"&gt;Font size="-1"&lt;/font&gt;
&lt;font size="+1"&gt;Font size="+1"&lt;/font&gt;
&lt;font size="+2"&gt;Font size="+2"&lt;/font&gt;
&lt;font size="+3"&gt;Font size="+3"&lt;/font&gt;
&lt;font size="+4"&gt;Font size="+4"&lt;/font&gt;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1645920"/>
            <a:ext cx="4480560" cy="338328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86600" y="1920240"/>
            <a:ext cx="32918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5DDC91"/>
                </a:solidFill>
                <a:latin typeface="Aptos"/>
              </a:rPr>
              <a:t>Interpretation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606040"/>
            <a:ext cx="7315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1" i="0">
                <a:solidFill>
                  <a:srgbClr val="46D2E6"/>
                </a:solidFill>
                <a:latin typeface="Cascadia Mono"/>
              </a:rPr>
              <a:t>+n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2606040"/>
            <a:ext cx="274320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50" b="0" i="0">
                <a:solidFill>
                  <a:srgbClr val="F5F8FC"/>
                </a:solidFill>
                <a:latin typeface="Aptos"/>
              </a:rPr>
              <a:t>n sizes larger than the preset size.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3337560"/>
            <a:ext cx="7315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1" i="0">
                <a:solidFill>
                  <a:srgbClr val="F5CD5A"/>
                </a:solidFill>
                <a:latin typeface="Cascadia Mono"/>
              </a:rPr>
              <a:t>-n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3337560"/>
            <a:ext cx="274320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50" b="0" i="0">
                <a:solidFill>
                  <a:srgbClr val="F5F8FC"/>
                </a:solidFill>
                <a:latin typeface="Aptos"/>
              </a:rPr>
              <a:t>n sizes smaller than the preset size.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440680"/>
            <a:ext cx="996696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AFBCCF"/>
                </a:solidFill>
                <a:latin typeface="Aptos"/>
              </a:rPr>
              <a:t>Again: legacy technique from the source; CSS is the modern approach.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2377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46D2E6"/>
                </a:solidFill>
                <a:latin typeface="Aptos"/>
              </a:rPr>
              <a:t>FONTS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"/>
              </a:rPr>
              <a:t>Font 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7899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 i="0">
                <a:solidFill>
                  <a:srgbClr val="AFBCCF"/>
                </a:solidFill>
                <a:latin typeface="Aptos"/>
              </a:rPr>
              <a:t>Choosing a typeface with the face attribute.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B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01400" y="6537960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0" i="0">
                <a:solidFill>
                  <a:srgbClr val="AFBCCF"/>
                </a:solidFill>
                <a:latin typeface="Aptos"/>
              </a:rP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6583680" cy="4389120"/>
          </a:xfrm>
          <a:prstGeom prst="roundRect">
            <a:avLst/>
          </a:prstGeom>
          <a:solidFill>
            <a:srgbClr val="080D16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709928"/>
            <a:ext cx="1097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46D2E6"/>
                </a:solidFill>
                <a:latin typeface="Aptos"/>
              </a:rPr>
              <a:t>SOURCE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011680"/>
            <a:ext cx="6254496" cy="385876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180">
                <a:solidFill>
                  <a:srgbClr val="DEECF7"/>
                </a:solidFill>
                <a:latin typeface="Cascadia Mono"/>
              </a:rPr>
              <a:t>&lt;font face="Times New Roman" size="5"&gt;Times New Roman&lt;/font&gt;
&lt;font face="Verdana" size="5"&gt;Verdana&lt;/font&gt;
&lt;font face="Comic sans MS" size="5"&gt;Comic Sans MS&lt;/font&gt;
&lt;font face="WildWest" size="5"&gt;WildWest&lt;/font&gt;
&lt;font face="Bedrock" size="5"&gt;Bedrock&lt;/font&gt;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1600200"/>
            <a:ext cx="3886200" cy="438912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26679" y="1874519"/>
            <a:ext cx="31089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F59155"/>
                </a:solidFill>
                <a:latin typeface="Aptos"/>
              </a:rPr>
              <a:t>Source warning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468880"/>
            <a:ext cx="3154680" cy="11887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50" b="0" i="0">
                <a:solidFill>
                  <a:srgbClr val="F5F8FC"/>
                </a:solidFill>
                <a:latin typeface="Aptos"/>
              </a:rPr>
              <a:t>If the viewer's computer does not have the requested font, the browser may fall back to another font.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4069080"/>
            <a:ext cx="20116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5DDC91"/>
                </a:solidFill>
                <a:latin typeface="Aptos"/>
              </a:rPr>
              <a:t>Modern approach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4480560"/>
            <a:ext cx="306324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AFBCCF"/>
                </a:solidFill>
                <a:latin typeface="Aptos"/>
              </a:rPr>
              <a:t>Use CSS font-family and provide fallback fonts.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2377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46D2E6"/>
                </a:solidFill>
                <a:latin typeface="Aptos"/>
              </a:rPr>
              <a:t>FONTS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"/>
              </a:rPr>
              <a:t>Font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7899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 i="0">
                <a:solidFill>
                  <a:srgbClr val="AFBCCF"/>
                </a:solidFill>
                <a:latin typeface="Aptos"/>
              </a:rPr>
              <a:t>The source demonstrates named colors and hexadecimal colors.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B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01400" y="6537960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0" i="0">
                <a:solidFill>
                  <a:srgbClr val="AFBCCF"/>
                </a:solidFill>
                <a:latin typeface="Aptos"/>
              </a:rPr>
              <a:t>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45920"/>
            <a:ext cx="5943600" cy="2743200"/>
          </a:xfrm>
          <a:prstGeom prst="roundRect">
            <a:avLst/>
          </a:prstGeom>
          <a:solidFill>
            <a:srgbClr val="080D16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755648"/>
            <a:ext cx="1097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46D2E6"/>
                </a:solidFill>
                <a:latin typeface="Aptos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057400"/>
            <a:ext cx="5614416" cy="221284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400">
                <a:solidFill>
                  <a:srgbClr val="DEECF7"/>
                </a:solidFill>
                <a:latin typeface="Cascadia Mono"/>
              </a:rPr>
              <a:t>&lt;font color="#FF00FF"&gt;
  This text is hexcolor #FF00FF
&lt;/font&gt;
&lt;font color="red"&gt;This text is red&lt;/font&gt;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1645920"/>
            <a:ext cx="4297680" cy="274320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78040" y="1920240"/>
            <a:ext cx="18288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46D2E6"/>
                </a:solidFill>
                <a:latin typeface="Aptos"/>
              </a:rPr>
              <a:t>Two forms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2560320"/>
            <a:ext cx="14630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5DDC91"/>
                </a:solidFill>
                <a:latin typeface="Aptos"/>
              </a:rPr>
              <a:t>Named color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2560320"/>
            <a:ext cx="9144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F5646E"/>
                </a:solidFill>
                <a:latin typeface="Cascadia Mono"/>
              </a:rPr>
              <a:t>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3246120"/>
            <a:ext cx="16459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i="0">
                <a:solidFill>
                  <a:srgbClr val="5DDC91"/>
                </a:solidFill>
                <a:latin typeface="Aptos"/>
              </a:rPr>
              <a:t>Hexadecimal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3246120"/>
            <a:ext cx="15544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F5F8FC"/>
                </a:solidFill>
                <a:latin typeface="Cascadia Mono"/>
              </a:rPr>
              <a:t>#FF00FF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029200"/>
            <a:ext cx="36576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AFBCCF"/>
                </a:solidFill>
                <a:latin typeface="Aptos"/>
              </a:rPr>
              <a:t>Modern approach: CSS color.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2377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46D2E6"/>
                </a:solidFill>
                <a:latin typeface="Aptos"/>
              </a:rPr>
              <a:t>IMAGES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"/>
              </a:rPr>
              <a:t>Images: &lt;img&gt;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7899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 i="0">
                <a:solidFill>
                  <a:srgbClr val="AFBCCF"/>
                </a:solidFill>
                <a:latin typeface="Aptos"/>
              </a:rPr>
              <a:t>Images add visual information and presentation value.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B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01400" y="6537960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0" i="0">
                <a:solidFill>
                  <a:srgbClr val="AFBCCF"/>
                </a:solidFill>
                <a:latin typeface="Aptos"/>
              </a:rPr>
              <a:t>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45920"/>
            <a:ext cx="5486400" cy="1965960"/>
          </a:xfrm>
          <a:prstGeom prst="roundRect">
            <a:avLst/>
          </a:prstGeom>
          <a:solidFill>
            <a:srgbClr val="080D16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755648"/>
            <a:ext cx="1097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46D2E6"/>
                </a:solidFill>
                <a:latin typeface="Aptos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057400"/>
            <a:ext cx="5157216" cy="1435607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450">
                <a:solidFill>
                  <a:srgbClr val="DEECF7"/>
                </a:solidFill>
                <a:latin typeface="Cascadia Mono"/>
              </a:rPr>
              <a:t>&lt;img src="image URL"
     alt="Alternative text"
     ...more attributes /&gt;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645920"/>
            <a:ext cx="4892040" cy="425196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20840" y="1920240"/>
            <a:ext cx="40233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46D2E6"/>
                </a:solidFill>
                <a:latin typeface="Aptos"/>
              </a:rPr>
              <a:t>Core attributes from the source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468880"/>
            <a:ext cx="3977639" cy="30175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src — image file URL</a:t>
            </a:r>
          </a:p>
          <a:p>
            <a:pPr>
              <a:spcAft>
                <a:spcPts val="4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alt — alternate text if the image is missing</a:t>
            </a:r>
          </a:p>
          <a:p>
            <a:pPr>
              <a:spcAft>
                <a:spcPts val="4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width / height — image dimensions</a:t>
            </a:r>
          </a:p>
          <a:p>
            <a:pPr>
              <a:spcAft>
                <a:spcPts val="4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border — border around image</a:t>
            </a:r>
          </a:p>
          <a:p>
            <a:pPr>
              <a:spcAft>
                <a:spcPts val="4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align / valign — horizontal / vertical alignment</a:t>
            </a:r>
          </a:p>
          <a:p>
            <a:pPr>
              <a:spcAft>
                <a:spcPts val="4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hspace / vspace — surrounding space</a:t>
            </a:r>
          </a:p>
          <a:p>
            <a:pPr>
              <a:spcAft>
                <a:spcPts val="4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id / name / style / title</a:t>
            </a:r>
          </a:p>
          <a:p>
            <a:pPr>
              <a:spcAft>
                <a:spcPts val="4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ismap / usemap — image-map related attributes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2377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46D2E6"/>
                </a:solidFill>
                <a:latin typeface="Aptos"/>
              </a:rPr>
              <a:t>IMAGES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"/>
              </a:rPr>
              <a:t>Image Attributes — Worked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7899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 i="0">
                <a:solidFill>
                  <a:srgbClr val="AFBCCF"/>
                </a:solidFill>
                <a:latin typeface="Aptos"/>
              </a:rPr>
              <a:t>Combining the attributes into one &lt;img&gt; element.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B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01400" y="6537960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0" i="0">
                <a:solidFill>
                  <a:srgbClr val="AFBCCF"/>
                </a:solidFill>
                <a:latin typeface="Aptos"/>
              </a:rPr>
              <a:t>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5669280" cy="3291840"/>
          </a:xfrm>
          <a:prstGeom prst="roundRect">
            <a:avLst/>
          </a:prstGeom>
          <a:solidFill>
            <a:srgbClr val="080D16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709928"/>
            <a:ext cx="1097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46D2E6"/>
                </a:solidFill>
                <a:latin typeface="Aptos"/>
              </a:rPr>
              <a:t>SOURCE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011680"/>
            <a:ext cx="5340096" cy="276148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380">
                <a:solidFill>
                  <a:srgbClr val="DEECF7"/>
                </a:solidFill>
                <a:latin typeface="Cascadia Mono"/>
              </a:rPr>
              <a:t>&lt;img src="apple.jpg"
     alt="Apple Image"
     width="100"
     height="100"
     border="2"
     align="right"
     title="Apple" /&gt;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1600200"/>
            <a:ext cx="4663440" cy="329184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03720" y="1874519"/>
            <a:ext cx="33832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5DDC91"/>
                </a:solidFill>
                <a:latin typeface="Aptos"/>
              </a:rPr>
              <a:t>Read it left → right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2423160"/>
            <a:ext cx="3657600" cy="21488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src identifies the image file.</a:t>
            </a:r>
          </a:p>
          <a:p>
            <a:pPr>
              <a:spcAft>
                <a:spcPts val="7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alt provides fallback text.</a:t>
            </a:r>
          </a:p>
          <a:p>
            <a:pPr>
              <a:spcAft>
                <a:spcPts val="7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width + height control dimensions.</a:t>
            </a:r>
          </a:p>
          <a:p>
            <a:pPr>
              <a:spcAft>
                <a:spcPts val="7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border adds a visible boundary.</a:t>
            </a:r>
          </a:p>
          <a:p>
            <a:pPr>
              <a:spcAft>
                <a:spcPts val="7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align places the image relative to text flow.</a:t>
            </a:r>
          </a:p>
          <a:p>
            <a:pPr>
              <a:spcAft>
                <a:spcPts val="7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title supplies title information.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349240"/>
            <a:ext cx="987552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50" b="0" i="0">
                <a:solidFill>
                  <a:srgbClr val="AFBCCF"/>
                </a:solidFill>
                <a:latin typeface="Aptos"/>
              </a:rPr>
              <a:t>Modern note: CSS controls sizing, borders and layout in current practice.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2377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46D2E6"/>
                </a:solidFill>
                <a:latin typeface="Aptos"/>
              </a:rPr>
              <a:t>IMAGES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"/>
              </a:rPr>
              <a:t>Wrapping Text Around Images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7899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 i="0">
                <a:solidFill>
                  <a:srgbClr val="AFBCCF"/>
                </a:solidFill>
                <a:latin typeface="Aptos"/>
              </a:rPr>
              <a:t>The source uses align + hspace/vspace.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B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01400" y="6537960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0" i="0">
                <a:solidFill>
                  <a:srgbClr val="AFBCCF"/>
                </a:solidFill>
                <a:latin typeface="Aptos"/>
              </a:rPr>
              <a:t>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6400800" cy="3383280"/>
          </a:xfrm>
          <a:prstGeom prst="roundRect">
            <a:avLst/>
          </a:prstGeom>
          <a:solidFill>
            <a:srgbClr val="080D16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709928"/>
            <a:ext cx="1097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46D2E6"/>
                </a:solidFill>
                <a:latin typeface="Aptos"/>
              </a:rPr>
              <a:t>EXAMPLE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011680"/>
            <a:ext cx="6071616" cy="285292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280">
                <a:solidFill>
                  <a:srgbClr val="DEECF7"/>
                </a:solidFill>
                <a:latin typeface="Cascadia Mono"/>
              </a:rPr>
              <a:t>&lt;p&gt;This is the first paragraph...&lt;/p&gt;
&lt;p&gt;&lt;img src="apple.jpg"
   width="75" height="75"
   alt="HTML Tutorial"
   align="right"&gt;
The image will appear on the right...&lt;/p&gt;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166360"/>
            <a:ext cx="6400800" cy="868680"/>
          </a:xfrm>
          <a:prstGeom prst="roundRect">
            <a:avLst/>
          </a:prstGeom>
          <a:solidFill>
            <a:srgbClr val="080D16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1" y="5276088"/>
            <a:ext cx="1097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46D2E6"/>
                </a:solidFill>
                <a:latin typeface="Aptos"/>
              </a:rPr>
              <a:t>EXAMPLE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5577840"/>
            <a:ext cx="6071616" cy="33832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120">
                <a:solidFill>
                  <a:srgbClr val="DEECF7"/>
                </a:solidFill>
                <a:latin typeface="Cascadia Mono"/>
              </a:rPr>
              <a:t>&lt;img src="apple.jpg"
     vspace="10"
     hspace="15"
     width="75"
     height="75"
     align="right"&gt;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1600200"/>
            <a:ext cx="3977639" cy="443484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35240" y="1874519"/>
            <a:ext cx="32918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46D2E6"/>
                </a:solidFill>
                <a:latin typeface="Aptos"/>
              </a:rPr>
              <a:t>How wrapping works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2468880"/>
            <a:ext cx="3246120" cy="24231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Left/right alignment places the image against a margin.</a:t>
            </a:r>
          </a:p>
          <a:p>
            <a:pPr>
              <a:spcAft>
                <a:spcPts val="8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Following text uses the remaining horizontal flow.</a:t>
            </a:r>
          </a:p>
          <a:p>
            <a:pPr>
              <a:spcAft>
                <a:spcPts val="8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The source calls this text wrapping around the image.</a:t>
            </a:r>
          </a:p>
          <a:p>
            <a:pPr>
              <a:spcAft>
                <a:spcPts val="8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hspace and vspace add space around the image.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2377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46D2E6"/>
                </a:solidFill>
                <a:latin typeface="Aptos"/>
              </a:rPr>
              <a:t>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"/>
              </a:rPr>
              <a:t>Hyperlinks &amp; the &lt;a&gt; Element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7899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 i="0">
                <a:solidFill>
                  <a:srgbClr val="AFBCCF"/>
                </a:solidFill>
                <a:latin typeface="Aptos"/>
              </a:rPr>
              <a:t>Links connect pages, sites, sections and files.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B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01400" y="6537960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0" i="0">
                <a:solidFill>
                  <a:srgbClr val="AFBCCF"/>
                </a:solidFill>
                <a:latin typeface="Aptos"/>
              </a:rPr>
              <a:t>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45920"/>
            <a:ext cx="5212080" cy="1645920"/>
          </a:xfrm>
          <a:prstGeom prst="roundRect">
            <a:avLst/>
          </a:prstGeom>
          <a:solidFill>
            <a:srgbClr val="080D16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755648"/>
            <a:ext cx="1097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46D2E6"/>
                </a:solidFill>
                <a:latin typeface="Aptos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057400"/>
            <a:ext cx="4882896" cy="111556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600">
                <a:solidFill>
                  <a:srgbClr val="DEECF7"/>
                </a:solidFill>
                <a:latin typeface="Cascadia Mono"/>
              </a:rPr>
              <a:t>&lt;a href="Document URL"&gt;
  Clickable text
&lt;/a&gt;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45920"/>
            <a:ext cx="5212080" cy="425196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920240"/>
            <a:ext cx="22860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46D2E6"/>
                </a:solidFill>
                <a:latin typeface="Aptos"/>
              </a:rPr>
              <a:t>What happens?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468880"/>
            <a:ext cx="4343400" cy="2651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8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The &lt;a&gt; element is called the anchor tag.</a:t>
            </a:r>
          </a:p>
          <a:p>
            <a:pPr>
              <a:spcAft>
                <a:spcPts val="8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Anything between &lt;a&gt; and &lt;/a&gt; becomes part of the link.</a:t>
            </a:r>
          </a:p>
          <a:p>
            <a:pPr>
              <a:spcAft>
                <a:spcPts val="8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href identifies the destination.</a:t>
            </a:r>
          </a:p>
          <a:p>
            <a:pPr>
              <a:spcAft>
                <a:spcPts val="8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Links can use text, phrases or images.</a:t>
            </a:r>
          </a:p>
          <a:p>
            <a:pPr>
              <a:spcAft>
                <a:spcPts val="8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The source covers internal and external navigation.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2377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46D2E6"/>
                </a:solidFill>
                <a:latin typeface="Aptos"/>
              </a:rPr>
              <a:t>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"/>
              </a:rPr>
              <a:t>Anchor Attributes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7899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 i="0">
                <a:solidFill>
                  <a:srgbClr val="AFBCCF"/>
                </a:solidFill>
                <a:latin typeface="Aptos"/>
              </a:rPr>
              <a:t>Important attributes for &lt;a&gt; in the source.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B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01400" y="6537960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0" i="0">
                <a:solidFill>
                  <a:srgbClr val="AFBCCF"/>
                </a:solidFill>
                <a:latin typeface="Aptos"/>
              </a:rPr>
              <a:t>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2148840" cy="566928"/>
          </a:xfrm>
          <a:prstGeom prst="roundRect">
            <a:avLst/>
          </a:prstGeom>
          <a:solidFill>
            <a:srgbClr val="1B273D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737360"/>
            <a:ext cx="17373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50" b="1" i="0">
                <a:solidFill>
                  <a:srgbClr val="46D2E6"/>
                </a:solidFill>
                <a:latin typeface="Cascadia Mono"/>
              </a:rPr>
              <a:t>href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1600200"/>
            <a:ext cx="8183879" cy="566928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54680" y="1737360"/>
            <a:ext cx="76352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50" b="0" i="0">
                <a:solidFill>
                  <a:srgbClr val="F5F8FC"/>
                </a:solidFill>
                <a:latin typeface="Aptos"/>
              </a:rPr>
              <a:t>Destination URL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313432"/>
            <a:ext cx="2148840" cy="566928"/>
          </a:xfrm>
          <a:prstGeom prst="roundRect">
            <a:avLst/>
          </a:prstGeom>
          <a:solidFill>
            <a:srgbClr val="1B273D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2450592"/>
            <a:ext cx="17373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50" b="1" i="0">
                <a:solidFill>
                  <a:srgbClr val="46D2E6"/>
                </a:solidFill>
                <a:latin typeface="Cascadia Mono"/>
              </a:rPr>
              <a:t>target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2313432"/>
            <a:ext cx="8183879" cy="566928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54680" y="2450592"/>
            <a:ext cx="76352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50" b="0" i="0">
                <a:solidFill>
                  <a:srgbClr val="F5F8FC"/>
                </a:solidFill>
                <a:latin typeface="Aptos"/>
              </a:rPr>
              <a:t>_blank, _self, _parent, _top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026664"/>
            <a:ext cx="2148840" cy="566928"/>
          </a:xfrm>
          <a:prstGeom prst="roundRect">
            <a:avLst/>
          </a:prstGeom>
          <a:solidFill>
            <a:srgbClr val="1B273D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3163824"/>
            <a:ext cx="17373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50" b="1" i="0">
                <a:solidFill>
                  <a:srgbClr val="46D2E6"/>
                </a:solidFill>
                <a:latin typeface="Cascadia Mono"/>
              </a:rPr>
              <a:t>name / 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26080" y="3026664"/>
            <a:ext cx="8183879" cy="566928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154680" y="3163824"/>
            <a:ext cx="76352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50" b="0" i="0">
                <a:solidFill>
                  <a:srgbClr val="F5F8FC"/>
                </a:solidFill>
                <a:latin typeface="Aptos"/>
              </a:rPr>
              <a:t>Labels a location in a document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739896"/>
            <a:ext cx="2148840" cy="566928"/>
          </a:xfrm>
          <a:prstGeom prst="roundRect">
            <a:avLst/>
          </a:prstGeom>
          <a:solidFill>
            <a:srgbClr val="1B273D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6112" y="3877056"/>
            <a:ext cx="17373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50" b="1" i="0">
                <a:solidFill>
                  <a:srgbClr val="46D2E6"/>
                </a:solidFill>
                <a:latin typeface="Cascadia Mono"/>
              </a:rPr>
              <a:t>event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26080" y="3739896"/>
            <a:ext cx="8183879" cy="566928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154680" y="3877056"/>
            <a:ext cx="76352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50" b="0" i="0">
                <a:solidFill>
                  <a:srgbClr val="F5F8FC"/>
                </a:solidFill>
                <a:latin typeface="Aptos"/>
              </a:rPr>
              <a:t>Events such as onClick / onMouseOver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453128"/>
            <a:ext cx="2148840" cy="566928"/>
          </a:xfrm>
          <a:prstGeom prst="roundRect">
            <a:avLst/>
          </a:prstGeom>
          <a:solidFill>
            <a:srgbClr val="1B273D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6112" y="4590288"/>
            <a:ext cx="17373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50" b="1" i="0">
                <a:solidFill>
                  <a:srgbClr val="46D2E6"/>
                </a:solidFill>
                <a:latin typeface="Cascadia Mono"/>
              </a:rPr>
              <a:t>title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926080" y="4453128"/>
            <a:ext cx="8183879" cy="566928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154680" y="4590288"/>
            <a:ext cx="76352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50" b="0" i="0">
                <a:solidFill>
                  <a:srgbClr val="F5F8FC"/>
                </a:solidFill>
                <a:latin typeface="Aptos"/>
              </a:rPr>
              <a:t>Title information for the linked document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5166360"/>
            <a:ext cx="2148840" cy="566928"/>
          </a:xfrm>
          <a:prstGeom prst="roundRect">
            <a:avLst/>
          </a:prstGeom>
          <a:solidFill>
            <a:srgbClr val="1B273D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96112" y="5303520"/>
            <a:ext cx="17373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50" b="1" i="0">
                <a:solidFill>
                  <a:srgbClr val="46D2E6"/>
                </a:solidFill>
                <a:latin typeface="Cascadia Mono"/>
              </a:rPr>
              <a:t>accesskey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926080" y="5166360"/>
            <a:ext cx="8183879" cy="566928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154680" y="5303520"/>
            <a:ext cx="76352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50" b="0" i="0">
                <a:solidFill>
                  <a:srgbClr val="F5F8FC"/>
                </a:solidFill>
                <a:latin typeface="Aptos"/>
              </a:rPr>
              <a:t>Keyboard shortcut for activating a link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035040"/>
            <a:ext cx="106070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50" b="0" i="0">
                <a:solidFill>
                  <a:srgbClr val="AFBCCF"/>
                </a:solidFill>
                <a:latin typeface="Aptos"/>
              </a:rPr>
              <a:t>Example target: target="_blank" opens the linked page in a new browsing context according to the source.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2377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46D2E6"/>
                </a:solidFill>
                <a:latin typeface="Aptos"/>
              </a:rPr>
              <a:t>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"/>
              </a:rPr>
              <a:t>Link Examples &amp; Download Links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7899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 i="0">
                <a:solidFill>
                  <a:srgbClr val="AFBCCF"/>
                </a:solidFill>
                <a:latin typeface="Aptos"/>
              </a:rPr>
              <a:t>The source also shows links to files.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B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01400" y="6537960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0" i="0">
                <a:solidFill>
                  <a:srgbClr val="AFBCCF"/>
                </a:solidFill>
                <a:latin typeface="Aptos"/>
              </a:rPr>
              <a:t>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45920"/>
            <a:ext cx="6400800" cy="2834640"/>
          </a:xfrm>
          <a:prstGeom prst="roundRect">
            <a:avLst/>
          </a:prstGeom>
          <a:solidFill>
            <a:srgbClr val="080D16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755648"/>
            <a:ext cx="1097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46D2E6"/>
                </a:solidFill>
                <a:latin typeface="Aptos"/>
              </a:rPr>
              <a:t>SOURCE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057400"/>
            <a:ext cx="6071616" cy="230428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380">
                <a:solidFill>
                  <a:srgbClr val="DEECF7"/>
                </a:solidFill>
                <a:latin typeface="Cascadia Mono"/>
              </a:rPr>
              <a:t>&lt;a href="http://www.kes.ac.in/"
   target="_blank"&gt;TPB Home&lt;/a&gt;
&lt;a href="http://www.example.com/file.pdf"&gt;
  Download File
&lt;/a&gt;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1645920"/>
            <a:ext cx="3931920" cy="283464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35240" y="1920240"/>
            <a:ext cx="30175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5DDC91"/>
                </a:solidFill>
                <a:latin typeface="Aptos"/>
              </a:rPr>
              <a:t>Download link idea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2514600"/>
            <a:ext cx="3063240" cy="10058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F5F8FC"/>
                </a:solidFill>
                <a:latin typeface="Aptos"/>
              </a:rPr>
              <a:t>A normal anchor can point to a PDF, DOC, ZIP or other downloadable resource URL.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3794760"/>
            <a:ext cx="20116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46D2E6"/>
                </a:solidFill>
                <a:latin typeface="Aptos"/>
              </a:rPr>
              <a:t>Source example label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187952"/>
            <a:ext cx="21945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F5F8FC"/>
                </a:solidFill>
                <a:latin typeface="Aptos"/>
              </a:rPr>
              <a:t>Download File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2377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46D2E6"/>
                </a:solidFill>
                <a:latin typeface="Aptos"/>
              </a:rPr>
              <a:t>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"/>
              </a:rPr>
              <a:t>HTML Tables: Core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7899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 i="0">
                <a:solidFill>
                  <a:srgbClr val="AFBCCF"/>
                </a:solidFill>
                <a:latin typeface="Aptos"/>
              </a:rPr>
              <a:t>Tables are organized as rows and cells.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B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01400" y="6537960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0" i="0">
                <a:solidFill>
                  <a:srgbClr val="AFBCCF"/>
                </a:solidFill>
                <a:latin typeface="Aptos"/>
              </a:rPr>
              <a:t>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6400800" cy="4526280"/>
          </a:xfrm>
          <a:prstGeom prst="roundRect">
            <a:avLst/>
          </a:prstGeom>
          <a:solidFill>
            <a:srgbClr val="080D16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709928"/>
            <a:ext cx="1097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46D2E6"/>
                </a:solidFill>
                <a:latin typeface="Aptos"/>
              </a:rPr>
              <a:t>BASIC 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116836"/>
            <a:ext cx="6071616" cy="399592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280">
                <a:solidFill>
                  <a:srgbClr val="DEECF7"/>
                </a:solidFill>
                <a:latin typeface="Cascadia Mono"/>
              </a:rPr>
              <a:t>&lt;table border="1"&gt;
  &lt;tr&gt;
    &lt;td&gt;Row 1, Column 1&lt;/td&gt;
    &lt;td&gt;Row 1, Column 2&lt;/td&gt;
  &lt;/tr&gt;
  &lt;tr&gt;
    &lt;td&gt;Row 2, Column 1&lt;/td&gt;
    &lt;td&gt;Row 2, Column 2&lt;/td&gt;
  &lt;/tr&gt;
&lt;/table&gt;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1600200"/>
            <a:ext cx="3977639" cy="452628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35240" y="1874519"/>
            <a:ext cx="31089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46D2E6"/>
                </a:solidFill>
                <a:latin typeface="Aptos"/>
              </a:rPr>
              <a:t>Three key elements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2514600"/>
            <a:ext cx="14630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5DDC91"/>
                </a:solidFill>
                <a:latin typeface="Cascadia Mono"/>
              </a:rPr>
              <a:t>&lt;table&gt;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2514600"/>
            <a:ext cx="18288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F5F8FC"/>
                </a:solidFill>
                <a:latin typeface="Aptos"/>
              </a:rPr>
              <a:t>Table container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3154680"/>
            <a:ext cx="14630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5DDC91"/>
                </a:solidFill>
                <a:latin typeface="Cascadia Mono"/>
              </a:rPr>
              <a:t>&lt;tr&gt;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3154680"/>
            <a:ext cx="18288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F5F8FC"/>
                </a:solidFill>
                <a:latin typeface="Aptos"/>
              </a:rPr>
              <a:t>Table row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3794760"/>
            <a:ext cx="14630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5DDC91"/>
                </a:solidFill>
                <a:latin typeface="Cascadia Mono"/>
              </a:rPr>
              <a:t>&lt;td&gt;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3794760"/>
            <a:ext cx="18288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F5F8FC"/>
                </a:solidFill>
                <a:latin typeface="Aptos"/>
              </a:rPr>
              <a:t>Table data cell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2377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46D2E6"/>
                </a:solidFill>
                <a:latin typeface="Aptos"/>
              </a:rPr>
              <a:t>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"/>
              </a:rPr>
              <a:t>Table Headings: &lt;th&gt;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7899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 i="0">
                <a:solidFill>
                  <a:srgbClr val="AFBCCF"/>
                </a:solidFill>
                <a:latin typeface="Aptos"/>
              </a:rPr>
              <a:t>Header cells identify the meaning of columns.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B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01400" y="6537960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0" i="0">
                <a:solidFill>
                  <a:srgbClr val="AFBCCF"/>
                </a:solidFill>
                <a:latin typeface="Aptos"/>
              </a:rPr>
              <a:t>35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6400800" cy="4526280"/>
          </a:xfrm>
          <a:prstGeom prst="roundRect">
            <a:avLst/>
          </a:prstGeom>
          <a:solidFill>
            <a:srgbClr val="080D16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1" y="1664207"/>
            <a:ext cx="1097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46D2E6"/>
                </a:solidFill>
                <a:latin typeface="Aptos"/>
              </a:rPr>
              <a:t>SOURCE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965960"/>
            <a:ext cx="6071616" cy="399592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230">
                <a:solidFill>
                  <a:srgbClr val="DEECF7"/>
                </a:solidFill>
                <a:latin typeface="Cascadia Mono"/>
              </a:rPr>
              <a:t>&lt;table border="1"&gt;
  &lt;tr&gt;
    &lt;th&gt;Name&lt;/th&gt;
    &lt;th&gt;Salary&lt;/th&gt;
  &lt;/tr&gt;
  &lt;tr&gt;
    &lt;td&gt;Ramesh Raman&lt;/td&gt;
    &lt;td&gt;5000&lt;/td&gt;
  &lt;/tr&gt;
  &lt;tr&gt;
    &lt;td&gt;Shabbir Hussein&lt;/td&gt;
    &lt;td&gt;7000&lt;/td&gt;
  &lt;/tr&gt;
&lt;/table&gt;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554480"/>
            <a:ext cx="4023360" cy="452628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0" y="1874519"/>
            <a:ext cx="32004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46D2E6"/>
                </a:solidFill>
                <a:latin typeface="Aptos"/>
              </a:rPr>
              <a:t>&lt;th&gt; vs &lt;td&gt;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606040"/>
            <a:ext cx="10972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5DDC91"/>
                </a:solidFill>
                <a:latin typeface="Cascadia Mono"/>
              </a:rPr>
              <a:t>&lt;th&gt;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2578608"/>
            <a:ext cx="214884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50" b="0" i="0">
                <a:solidFill>
                  <a:srgbClr val="F5F8FC"/>
                </a:solidFill>
                <a:latin typeface="Aptos"/>
              </a:rPr>
              <a:t>Header cell; normally used for column headings.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3520440"/>
            <a:ext cx="10972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F5CD5A"/>
                </a:solidFill>
                <a:latin typeface="Cascadia Mono"/>
              </a:rPr>
              <a:t>&lt;td&gt;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3493008"/>
            <a:ext cx="214884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50" b="0" i="0">
                <a:solidFill>
                  <a:srgbClr val="F5F8FC"/>
                </a:solidFill>
                <a:latin typeface="Aptos"/>
              </a:rPr>
              <a:t>Data cell; holds the table's actual data.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4480560"/>
            <a:ext cx="11887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59155"/>
                </a:solidFill>
                <a:latin typeface="Aptos"/>
              </a:rPr>
              <a:t>Source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4864608"/>
            <a:ext cx="320040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AFBCCF"/>
                </a:solidFill>
                <a:latin typeface="Aptos"/>
              </a:rPr>
              <a:t>Each cell should use either &lt;td&gt; or &lt;th&gt;, even when empty.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2377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46D2E6"/>
                </a:solidFill>
                <a:latin typeface="Aptos"/>
              </a:rPr>
              <a:t>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"/>
              </a:rPr>
              <a:t>Cellpadding &amp; Cellspacing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7899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 i="0">
                <a:solidFill>
                  <a:srgbClr val="AFBCCF"/>
                </a:solidFill>
                <a:latin typeface="Aptos"/>
              </a:rPr>
              <a:t>Controlling whitespace inside and around table cells.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B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01400" y="6537960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0" i="0">
                <a:solidFill>
                  <a:srgbClr val="AFBCCF"/>
                </a:solidFill>
                <a:latin typeface="Aptos"/>
              </a:rPr>
              <a:t>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45920"/>
            <a:ext cx="6400800" cy="4114800"/>
          </a:xfrm>
          <a:prstGeom prst="roundRect">
            <a:avLst/>
          </a:prstGeom>
          <a:solidFill>
            <a:srgbClr val="080D16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755648"/>
            <a:ext cx="1097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46D2E6"/>
                </a:solidFill>
                <a:latin typeface="Aptos"/>
              </a:rPr>
              <a:t>SOURCE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057400"/>
            <a:ext cx="6071616" cy="358444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250">
                <a:solidFill>
                  <a:srgbClr val="DEECF7"/>
                </a:solidFill>
                <a:latin typeface="Cascadia Mono"/>
              </a:rPr>
              <a:t>&lt;table border="1"
       cellpadding="5"
       cellspacing="5"&gt;
  &lt;tr&gt;
    &lt;th&gt;Name&lt;/th&gt;
    &lt;th&gt;Salary&lt;/th&gt;
  &lt;/tr&gt;
  &lt;tr&gt;
    &lt;td&gt;Ramesh Raman&lt;/td&gt;
    &lt;td&gt;5000&lt;/td&gt;
  &lt;/tr&gt;
&lt;/table&gt;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1645920"/>
            <a:ext cx="3886200" cy="411480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80960" y="1920240"/>
            <a:ext cx="18288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46D2E6"/>
                </a:solidFill>
                <a:latin typeface="Aptos"/>
              </a:rPr>
              <a:t>Cellpadding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2468880"/>
            <a:ext cx="310896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F5F8FC"/>
                </a:solidFill>
                <a:latin typeface="Aptos"/>
              </a:rPr>
              <a:t>Distance between the cell border and the content inside.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3520440"/>
            <a:ext cx="18288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5DDC91"/>
                </a:solidFill>
                <a:latin typeface="Aptos"/>
              </a:rPr>
              <a:t>Cellspacing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4069080"/>
            <a:ext cx="310896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F5F8FC"/>
                </a:solidFill>
                <a:latin typeface="Aptos"/>
              </a:rPr>
              <a:t>Controls spacing between table cells / borders in the source's terminology.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2377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46D2E6"/>
                </a:solidFill>
                <a:latin typeface="Aptos"/>
              </a:rPr>
              <a:t>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"/>
              </a:rPr>
              <a:t>Colspan &amp; Rowspan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7899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 i="0">
                <a:solidFill>
                  <a:srgbClr val="AFBCCF"/>
                </a:solidFill>
                <a:latin typeface="Aptos"/>
              </a:rPr>
              <a:t>Merge cells across columns or rows.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B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01400" y="6537960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0" i="0">
                <a:solidFill>
                  <a:srgbClr val="AFBCCF"/>
                </a:solidFill>
                <a:latin typeface="Aptos"/>
              </a:rPr>
              <a:t>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08760"/>
            <a:ext cx="7315200" cy="4663440"/>
          </a:xfrm>
          <a:prstGeom prst="roundRect">
            <a:avLst/>
          </a:prstGeom>
          <a:solidFill>
            <a:srgbClr val="080D16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618488"/>
            <a:ext cx="1097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46D2E6"/>
                </a:solidFill>
                <a:latin typeface="Aptos"/>
              </a:rPr>
              <a:t>SOURCE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920240"/>
            <a:ext cx="6986016" cy="4133087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080">
                <a:solidFill>
                  <a:srgbClr val="DEECF7"/>
                </a:solidFill>
                <a:latin typeface="Cascadia Mono"/>
              </a:rPr>
              <a:t>&lt;table border="1"&gt;
  &lt;tr&gt;
    &lt;th&gt;Column 1&lt;/th&gt;
    &lt;th&gt;Column 2&lt;/th&gt;
    &lt;th&gt;Column 3&lt;/th&gt;
  &lt;/tr&gt;
  &lt;tr&gt;
    &lt;td rowspan="2"&gt;Row 1 Cell 1&lt;/td&gt;
    &lt;td&gt;Row 1 Cell 2&lt;/td&gt;
    &lt;td&gt;Row 1 Cell 3&lt;/td&gt;
  &lt;/tr&gt;
  &lt;tr&gt;
    &lt;td&gt;Row 2 Cell 2&lt;/td&gt;
    &lt;td&gt;Row 2 Cell 3&lt;/td&gt;
  &lt;/tr&gt;
  &lt;tr&gt;
    &lt;td colspan="3"&gt;Row 3 Cell 1&lt;/td&gt;
  &lt;/tr&gt;
&lt;/table&gt;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508760"/>
            <a:ext cx="3200400" cy="466344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58200" y="1828800"/>
            <a:ext cx="20116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46D2E6"/>
                </a:solidFill>
                <a:latin typeface="Aptos"/>
              </a:rPr>
              <a:t>Remember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560320"/>
            <a:ext cx="11887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5DDC91"/>
                </a:solidFill>
                <a:latin typeface="Cascadia Mono"/>
              </a:rPr>
              <a:t>colspan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46920" y="2560320"/>
            <a:ext cx="13258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50" b="0" i="0">
                <a:solidFill>
                  <a:srgbClr val="F5F8FC"/>
                </a:solidFill>
                <a:latin typeface="Aptos"/>
              </a:rPr>
              <a:t>merges columns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3337560"/>
            <a:ext cx="11887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F5CD5A"/>
                </a:solidFill>
                <a:latin typeface="Cascadia Mono"/>
              </a:rPr>
              <a:t>rowspan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46920" y="3337560"/>
            <a:ext cx="13258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50" b="0" i="0">
                <a:solidFill>
                  <a:srgbClr val="F5F8FC"/>
                </a:solidFill>
                <a:latin typeface="Aptos"/>
              </a:rPr>
              <a:t>merges rows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4160520"/>
            <a:ext cx="251460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AFBCCF"/>
                </a:solidFill>
                <a:latin typeface="Aptos"/>
              </a:rPr>
              <a:t>Visualize the table grid before choosing the span value.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2377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46D2E6"/>
                </a:solidFill>
                <a:latin typeface="Aptos"/>
              </a:rPr>
              <a:t>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"/>
              </a:rPr>
              <a:t>Table Backgrounds, Width &amp; Height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7899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 i="0">
                <a:solidFill>
                  <a:srgbClr val="AFBCCF"/>
                </a:solidFill>
                <a:latin typeface="Aptos"/>
              </a:rPr>
              <a:t>The source demonstrates presentational table attributes.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B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01400" y="6537960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0" i="0">
                <a:solidFill>
                  <a:srgbClr val="AFBCCF"/>
                </a:solidFill>
                <a:latin typeface="Aptos"/>
              </a:rPr>
              <a:t>38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54480"/>
            <a:ext cx="6858000" cy="4526280"/>
          </a:xfrm>
          <a:prstGeom prst="roundRect">
            <a:avLst/>
          </a:prstGeom>
          <a:solidFill>
            <a:srgbClr val="080D16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664207"/>
            <a:ext cx="1097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46D2E6"/>
                </a:solidFill>
                <a:latin typeface="Aptos"/>
              </a:rPr>
              <a:t>BACKGROUND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965960"/>
            <a:ext cx="6528816" cy="399592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080">
                <a:solidFill>
                  <a:srgbClr val="DEECF7"/>
                </a:solidFill>
                <a:latin typeface="Cascadia Mono"/>
              </a:rPr>
              <a:t>&lt;table border="5"
       bordercolor="green"
       bgcolor="gray"&gt;
  &lt;tr&gt;
    &lt;th&gt;Column 1&lt;/th&gt;
    &lt;th&gt;Column 2&lt;/th&gt;
    &lt;th&gt;Column 3&lt;/th&gt;
  &lt;/tr&gt;
  &lt;tr&gt;
    &lt;td rowspan="2"&gt;Row 1 Cell 1&lt;/td&gt;
    &lt;td bgcolor="red"&gt;Row 1 Cell 2&lt;/td&gt;
    &lt;td&gt;Row 1 Cell 3&lt;/td&gt;
  &lt;/tr&gt;
&lt;/table&gt;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1554480"/>
            <a:ext cx="3611880" cy="452628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01000" y="1828800"/>
            <a:ext cx="29260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46D2E6"/>
                </a:solidFill>
                <a:latin typeface="Aptos"/>
              </a:rPr>
              <a:t>Other source examples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423160"/>
            <a:ext cx="2880360" cy="18288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800"/>
              </a:spcAft>
              <a:defRPr sz="1450">
                <a:solidFill>
                  <a:srgbClr val="F5F8FC"/>
                </a:solidFill>
                <a:latin typeface="Aptos"/>
              </a:defRPr>
            </a:pPr>
            <a:r>
              <a:t>• background — image URL for a table/cell</a:t>
            </a:r>
          </a:p>
          <a:p>
            <a:pPr>
              <a:spcAft>
                <a:spcPts val="800"/>
              </a:spcAft>
              <a:defRPr sz="1450">
                <a:solidFill>
                  <a:srgbClr val="F5F8FC"/>
                </a:solidFill>
                <a:latin typeface="Aptos"/>
              </a:defRPr>
            </a:pPr>
            <a:r>
              <a:t>• width / height — integer or percentage</a:t>
            </a:r>
          </a:p>
          <a:p>
            <a:pPr>
              <a:spcAft>
                <a:spcPts val="800"/>
              </a:spcAft>
              <a:defRPr sz="1450">
                <a:solidFill>
                  <a:srgbClr val="F5F8FC"/>
                </a:solidFill>
                <a:latin typeface="Aptos"/>
              </a:defRPr>
            </a:pPr>
            <a:r>
              <a:t>• bordercolor — border color</a:t>
            </a:r>
          </a:p>
          <a:p>
            <a:pPr>
              <a:spcAft>
                <a:spcPts val="800"/>
              </a:spcAft>
              <a:defRPr sz="1450">
                <a:solidFill>
                  <a:srgbClr val="F5F8FC"/>
                </a:solidFill>
                <a:latin typeface="Aptos"/>
              </a:defRPr>
            </a:pPr>
            <a:r>
              <a:t>• bgcolor — background color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4572000"/>
            <a:ext cx="13716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59155"/>
                </a:solidFill>
                <a:latin typeface="Aptos"/>
              </a:rPr>
              <a:t>Modern note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4956048"/>
            <a:ext cx="274320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AFBCCF"/>
                </a:solidFill>
                <a:latin typeface="Aptos"/>
              </a:rPr>
              <a:t>Use CSS for table backgrounds, borders and dimensions.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2377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46D2E6"/>
                </a:solidFill>
                <a:latin typeface="Aptos"/>
              </a:rPr>
              <a:t>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"/>
              </a:rPr>
              <a:t>Table Caption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7899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 i="0">
                <a:solidFill>
                  <a:srgbClr val="AFBCCF"/>
                </a:solidFill>
                <a:latin typeface="Aptos"/>
              </a:rPr>
              <a:t>The source uses &lt;caption&gt; as a title/explanation.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B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01400" y="6537960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0" i="0">
                <a:solidFill>
                  <a:srgbClr val="AFBCCF"/>
                </a:solidFill>
                <a:latin typeface="Aptos"/>
              </a:rPr>
              <a:t>39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45920"/>
            <a:ext cx="6035040" cy="3200400"/>
          </a:xfrm>
          <a:prstGeom prst="roundRect">
            <a:avLst/>
          </a:prstGeom>
          <a:solidFill>
            <a:srgbClr val="080D16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755648"/>
            <a:ext cx="1097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46D2E6"/>
                </a:solidFill>
                <a:latin typeface="Aptos"/>
              </a:rPr>
              <a:t>SOURCE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057400"/>
            <a:ext cx="5705855" cy="267004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280">
                <a:solidFill>
                  <a:srgbClr val="DEECF7"/>
                </a:solidFill>
                <a:latin typeface="Cascadia Mono"/>
              </a:rPr>
              <a:t>&lt;table border="1"&gt;
  &lt;caption&gt;This is the caption&lt;/caption&gt;
  &lt;tr&gt;
    &lt;td&gt;row 1, column 1&lt;/td&gt;
    &lt;td&gt;row 1, column 2&lt;/td&gt;
  &lt;/tr&gt;
&lt;/table&gt;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40880" y="1645920"/>
            <a:ext cx="4251960" cy="320040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0" y="1965960"/>
            <a:ext cx="18288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1" i="0">
                <a:solidFill>
                  <a:srgbClr val="46D2E6"/>
                </a:solidFill>
                <a:latin typeface="Cascadia Mono"/>
              </a:rPr>
              <a:t>&lt;caption&gt;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560320"/>
            <a:ext cx="3383280" cy="9144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F5F8FC"/>
                </a:solidFill>
                <a:latin typeface="Aptos"/>
              </a:rPr>
              <a:t>Provides a title or explanation shown at the top of the table.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3794760"/>
            <a:ext cx="18288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59155"/>
                </a:solidFill>
                <a:latin typeface="Aptos"/>
              </a:rPr>
              <a:t>Source status note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4160520"/>
            <a:ext cx="338328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0" i="0">
                <a:solidFill>
                  <a:srgbClr val="AFBCCF"/>
                </a:solidFill>
                <a:latin typeface="Aptos"/>
              </a:rPr>
              <a:t>The PDF calls the tag deprecated in newer HTML/XHTML.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2377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46D2E6"/>
                </a:solidFill>
                <a:latin typeface="Aptos"/>
              </a:rPr>
              <a:t>COLORS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"/>
              </a:rPr>
              <a:t>HTML Colors: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7899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 i="0">
                <a:solidFill>
                  <a:srgbClr val="AFBCCF"/>
                </a:solidFill>
                <a:latin typeface="Aptos"/>
              </a:rPr>
              <a:t>Three color-coding methods are described.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B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01400" y="6537960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0" i="0">
                <a:solidFill>
                  <a:srgbClr val="AFBCCF"/>
                </a:solidFill>
                <a:latin typeface="Aptos"/>
              </a:rPr>
              <a:t>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45920"/>
            <a:ext cx="3337560" cy="416052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965960"/>
            <a:ext cx="26517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46D2E6"/>
                </a:solidFill>
                <a:latin typeface="Aptos"/>
              </a:rPr>
              <a:t>1. Color names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06040"/>
            <a:ext cx="265176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F5F8FC"/>
                </a:solidFill>
                <a:latin typeface="Aptos"/>
              </a:rPr>
              <a:t>red, green, blue, navy, teal…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645920"/>
            <a:ext cx="3337560" cy="416052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09160" y="1965960"/>
            <a:ext cx="26517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5DDC91"/>
                </a:solidFill>
                <a:latin typeface="Aptos"/>
              </a:rPr>
              <a:t>2. Hex codes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606040"/>
            <a:ext cx="2651760" cy="7772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F5F8FC"/>
                </a:solidFill>
                <a:latin typeface="Aptos"/>
              </a:rPr>
              <a:t>#RRGGBB — six hexadecimal digits.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645920"/>
            <a:ext cx="3337560" cy="416052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58200" y="1965960"/>
            <a:ext cx="265176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F5CD5A"/>
                </a:solidFill>
                <a:latin typeface="Aptos"/>
              </a:rPr>
              <a:t>3. RGB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606040"/>
            <a:ext cx="265176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F5F8FC"/>
                </a:solidFill>
                <a:latin typeface="Cascadia Mono"/>
              </a:rPr>
              <a:t>rgb(red, green, blue)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257800"/>
            <a:ext cx="1014984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50" b="0" i="0">
                <a:solidFill>
                  <a:srgbClr val="AFBCCF"/>
                </a:solidFill>
                <a:latin typeface="Aptos"/>
              </a:rPr>
              <a:t>The source recommends CSS for setting modern page/text colors.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2377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46D2E6"/>
                </a:solidFill>
                <a:latin typeface="Aptos"/>
              </a:rPr>
              <a:t>COLORS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"/>
              </a:rPr>
              <a:t>Color Names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7899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 i="0">
                <a:solidFill>
                  <a:srgbClr val="AFBCCF"/>
                </a:solidFill>
                <a:latin typeface="Aptos"/>
              </a:rPr>
              <a:t>The source lists the W3C standard 16 colors.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B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01400" y="6537960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0" i="0">
                <a:solidFill>
                  <a:srgbClr val="AFBCCF"/>
                </a:solidFill>
                <a:latin typeface="Aptos"/>
              </a:rPr>
              <a:t>41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45920"/>
            <a:ext cx="2514600" cy="73152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21945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F5F8FC"/>
                </a:solidFill>
                <a:latin typeface="Aptos"/>
              </a:rPr>
              <a:t>Black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645920"/>
            <a:ext cx="2514600" cy="73152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11879" y="1828800"/>
            <a:ext cx="21945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F5F8FC"/>
                </a:solidFill>
                <a:latin typeface="Aptos"/>
              </a:rPr>
              <a:t>Gray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45920"/>
            <a:ext cx="2514600" cy="73152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828800"/>
            <a:ext cx="21945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F5F8FC"/>
                </a:solidFill>
                <a:latin typeface="Aptos"/>
              </a:rPr>
              <a:t>Silver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52559" y="1645920"/>
            <a:ext cx="2514600" cy="73152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89719" y="1828800"/>
            <a:ext cx="21945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F5F8FC"/>
                </a:solidFill>
                <a:latin typeface="Aptos"/>
              </a:rPr>
              <a:t>White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606040"/>
            <a:ext cx="2514600" cy="73152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2788920"/>
            <a:ext cx="21945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F5F8FC"/>
                </a:solidFill>
                <a:latin typeface="Aptos"/>
              </a:rPr>
              <a:t>Yellow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74720" y="2606040"/>
            <a:ext cx="2514600" cy="73152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11879" y="2788920"/>
            <a:ext cx="21945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F5F8FC"/>
                </a:solidFill>
                <a:latin typeface="Aptos"/>
              </a:rPr>
              <a:t>Lime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606040"/>
            <a:ext cx="2514600" cy="73152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2788920"/>
            <a:ext cx="21945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F5F8FC"/>
                </a:solidFill>
                <a:latin typeface="Aptos"/>
              </a:rPr>
              <a:t>Aqua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59" y="2606040"/>
            <a:ext cx="2514600" cy="73152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89719" y="2788920"/>
            <a:ext cx="21945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F5F8FC"/>
                </a:solidFill>
                <a:latin typeface="Aptos"/>
              </a:rPr>
              <a:t>Fuchsia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566160"/>
            <a:ext cx="2514600" cy="73152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3749040"/>
            <a:ext cx="21945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F5F8FC"/>
                </a:solidFill>
                <a:latin typeface="Aptos"/>
              </a:rPr>
              <a:t>Red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74720" y="3566160"/>
            <a:ext cx="2514600" cy="73152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11879" y="3749040"/>
            <a:ext cx="21945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F5F8FC"/>
                </a:solidFill>
                <a:latin typeface="Aptos"/>
              </a:rPr>
              <a:t>Green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3566160"/>
            <a:ext cx="2514600" cy="73152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0" y="3749040"/>
            <a:ext cx="21945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F5F8FC"/>
                </a:solidFill>
                <a:latin typeface="Aptos"/>
              </a:rPr>
              <a:t>Blue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52559" y="3566160"/>
            <a:ext cx="2514600" cy="73152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89719" y="3749040"/>
            <a:ext cx="21945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F5F8FC"/>
                </a:solidFill>
                <a:latin typeface="Aptos"/>
              </a:rPr>
              <a:t>Purple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526280"/>
            <a:ext cx="2514600" cy="73152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2960" y="4709160"/>
            <a:ext cx="21945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F5F8FC"/>
                </a:solidFill>
                <a:latin typeface="Aptos"/>
              </a:rPr>
              <a:t>Maroon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74720" y="4526280"/>
            <a:ext cx="2514600" cy="73152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11879" y="4709160"/>
            <a:ext cx="21945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F5F8FC"/>
                </a:solidFill>
                <a:latin typeface="Aptos"/>
              </a:rPr>
              <a:t>Olive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4526280"/>
            <a:ext cx="2514600" cy="73152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0" y="4709160"/>
            <a:ext cx="21945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F5F8FC"/>
                </a:solidFill>
                <a:latin typeface="Aptos"/>
              </a:rPr>
              <a:t>Navy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52559" y="4526280"/>
            <a:ext cx="2514600" cy="73152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89719" y="4709160"/>
            <a:ext cx="21945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F5F8FC"/>
                </a:solidFill>
                <a:latin typeface="Aptos"/>
              </a:rPr>
              <a:t>Teal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2377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46D2E6"/>
                </a:solidFill>
                <a:latin typeface="Aptos"/>
              </a:rPr>
              <a:t>COLORS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"/>
              </a:rPr>
              <a:t>Hexadecimal Color Codes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7899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 i="0">
                <a:solidFill>
                  <a:srgbClr val="AFBCCF"/>
                </a:solidFill>
                <a:latin typeface="Aptos"/>
              </a:rPr>
              <a:t>A six-digit representation of RGB components.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B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01400" y="6537960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0" i="0">
                <a:solidFill>
                  <a:srgbClr val="AFBCCF"/>
                </a:solidFill>
                <a:latin typeface="Aptos"/>
              </a:rPr>
              <a:t>42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5212080" cy="438912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874519"/>
            <a:ext cx="43891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800" b="1" i="0">
                <a:solidFill>
                  <a:srgbClr val="46D2E6"/>
                </a:solidFill>
                <a:latin typeface="Cascadia Mono"/>
              </a:rPr>
              <a:t>#RRGGBB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743200"/>
            <a:ext cx="13716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F5646E"/>
                </a:solidFill>
                <a:latin typeface="Aptos"/>
              </a:rPr>
              <a:t>RR = 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2743200"/>
            <a:ext cx="1645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5DDC91"/>
                </a:solidFill>
                <a:latin typeface="Aptos"/>
              </a:rPr>
              <a:t>GG = Green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2743200"/>
            <a:ext cx="14630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700" b="1" i="0">
                <a:solidFill>
                  <a:srgbClr val="46D2E6"/>
                </a:solidFill>
                <a:latin typeface="Aptos"/>
              </a:rPr>
              <a:t>BB = Blue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429000"/>
            <a:ext cx="43891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 i="0">
                <a:solidFill>
                  <a:srgbClr val="F5F8FC"/>
                </a:solidFill>
                <a:latin typeface="Aptos"/>
              </a:rPr>
              <a:t>Each pair represents one component of the color.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251960"/>
            <a:ext cx="43891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0" i="0">
                <a:solidFill>
                  <a:srgbClr val="AFBCCF"/>
                </a:solidFill>
                <a:latin typeface="Aptos"/>
              </a:rPr>
              <a:t>Every hexadecimal color in the source begins with #.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600200"/>
            <a:ext cx="5120640" cy="438912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1874519"/>
            <a:ext cx="2743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5DDC91"/>
                </a:solidFill>
                <a:latin typeface="Aptos"/>
              </a:rPr>
              <a:t>Source examples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514600"/>
            <a:ext cx="13258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50" b="1" i="0">
                <a:solidFill>
                  <a:srgbClr val="F5F8FC"/>
                </a:solidFill>
                <a:latin typeface="Cascadia Mono"/>
              </a:rPr>
              <a:t>#000000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807208"/>
            <a:ext cx="13258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50" b="0" i="0">
                <a:solidFill>
                  <a:srgbClr val="AFBCCF"/>
                </a:solidFill>
                <a:latin typeface="Aptos"/>
              </a:rPr>
              <a:t>Black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9" y="2514600"/>
            <a:ext cx="13258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50" b="1" i="0">
                <a:solidFill>
                  <a:srgbClr val="F5F8FC"/>
                </a:solidFill>
                <a:latin typeface="Cascadia Mono"/>
              </a:rPr>
              <a:t>#FF0000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9" y="2807208"/>
            <a:ext cx="13258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50" b="0" i="0">
                <a:solidFill>
                  <a:srgbClr val="AFBCCF"/>
                </a:solidFill>
                <a:latin typeface="Aptos"/>
              </a:rPr>
              <a:t>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2514600"/>
            <a:ext cx="13258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50" b="1" i="0">
                <a:solidFill>
                  <a:srgbClr val="F5F8FC"/>
                </a:solidFill>
                <a:latin typeface="Cascadia Mono"/>
              </a:rPr>
              <a:t>#00FF00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2807208"/>
            <a:ext cx="13258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50" b="0" i="0">
                <a:solidFill>
                  <a:srgbClr val="AFBCCF"/>
                </a:solidFill>
                <a:latin typeface="Aptos"/>
              </a:rPr>
              <a:t>Green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291840"/>
            <a:ext cx="13258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50" b="1" i="0">
                <a:solidFill>
                  <a:srgbClr val="F5F8FC"/>
                </a:solidFill>
                <a:latin typeface="Cascadia Mono"/>
              </a:rPr>
              <a:t>#0000FF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584448"/>
            <a:ext cx="13258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50" b="0" i="0">
                <a:solidFill>
                  <a:srgbClr val="AFBCCF"/>
                </a:solidFill>
                <a:latin typeface="Aptos"/>
              </a:rPr>
              <a:t>Blue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19" y="3291840"/>
            <a:ext cx="13258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50" b="1" i="0">
                <a:solidFill>
                  <a:srgbClr val="F5F8FC"/>
                </a:solidFill>
                <a:latin typeface="Cascadia Mono"/>
              </a:rPr>
              <a:t>#FFFF00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9" y="3584448"/>
            <a:ext cx="13258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50" b="0" i="0">
                <a:solidFill>
                  <a:srgbClr val="AFBCCF"/>
                </a:solidFill>
                <a:latin typeface="Aptos"/>
              </a:rPr>
              <a:t>Yellow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3291840"/>
            <a:ext cx="13258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50" b="1" i="0">
                <a:solidFill>
                  <a:srgbClr val="F5F8FC"/>
                </a:solidFill>
                <a:latin typeface="Cascadia Mono"/>
              </a:rPr>
              <a:t>#00FFFF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3584448"/>
            <a:ext cx="13258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50" b="0" i="0">
                <a:solidFill>
                  <a:srgbClr val="AFBCCF"/>
                </a:solidFill>
                <a:latin typeface="Aptos"/>
              </a:rPr>
              <a:t>Aqua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069080"/>
            <a:ext cx="13258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50" b="1" i="0">
                <a:solidFill>
                  <a:srgbClr val="F5F8FC"/>
                </a:solidFill>
                <a:latin typeface="Cascadia Mono"/>
              </a:rPr>
              <a:t>#FF00FF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361688"/>
            <a:ext cx="13258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50" b="0" i="0">
                <a:solidFill>
                  <a:srgbClr val="AFBCCF"/>
                </a:solidFill>
                <a:latin typeface="Aptos"/>
              </a:rPr>
              <a:t>Fuchsia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19" y="4069080"/>
            <a:ext cx="13258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50" b="1" i="0">
                <a:solidFill>
                  <a:srgbClr val="F5F8FC"/>
                </a:solidFill>
                <a:latin typeface="Cascadia Mono"/>
              </a:rPr>
              <a:t>#C0C0C0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19" y="4361688"/>
            <a:ext cx="13258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50" b="0" i="0">
                <a:solidFill>
                  <a:srgbClr val="AFBCCF"/>
                </a:solidFill>
                <a:latin typeface="Aptos"/>
              </a:rPr>
              <a:t>Silver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4069080"/>
            <a:ext cx="13258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50" b="1" i="0">
                <a:solidFill>
                  <a:srgbClr val="F5F8FC"/>
                </a:solidFill>
                <a:latin typeface="Cascadia Mono"/>
              </a:rPr>
              <a:t>#FFFFFF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4361688"/>
            <a:ext cx="13258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50" b="0" i="0">
                <a:solidFill>
                  <a:srgbClr val="AFBCCF"/>
                </a:solidFill>
                <a:latin typeface="Aptos"/>
              </a:rPr>
              <a:t>White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2377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46D2E6"/>
                </a:solidFill>
                <a:latin typeface="Aptos"/>
              </a:rPr>
              <a:t>COLORS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"/>
              </a:rPr>
              <a:t>RGB Color Values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7899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 i="0">
                <a:solidFill>
                  <a:srgbClr val="AFBCCF"/>
                </a:solidFill>
                <a:latin typeface="Aptos"/>
              </a:rPr>
              <a:t>The source uses rgb(red, green, blue).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B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01400" y="6537960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0" i="0">
                <a:solidFill>
                  <a:srgbClr val="AFBCCF"/>
                </a:solidFill>
                <a:latin typeface="Aptos"/>
              </a:rPr>
              <a:t>43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5669280" cy="4526280"/>
          </a:xfrm>
          <a:prstGeom prst="roundRect">
            <a:avLst/>
          </a:prstGeom>
          <a:solidFill>
            <a:srgbClr val="080D16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709928"/>
            <a:ext cx="1097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46D2E6"/>
                </a:solidFill>
                <a:latin typeface="Aptos"/>
              </a:rPr>
              <a:t>SOURCE VALUES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011680"/>
            <a:ext cx="5340096" cy="399592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350">
                <a:solidFill>
                  <a:srgbClr val="DEECF7"/>
                </a:solidFill>
                <a:latin typeface="Cascadia Mono"/>
              </a:rPr>
              <a:t>rgb(0,0,0)
rgb(255,0,0)
rgb(0,255,0)
rgb(0,0,255)
rgb(255,255,0)
rgb(0,255,255)
rgb(255,0,255)
rgb(192,192,192)
rgb(255,255,255)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1600200"/>
            <a:ext cx="4663440" cy="452628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03720" y="1874519"/>
            <a:ext cx="38404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46D2E6"/>
                </a:solidFill>
                <a:latin typeface="Aptos"/>
              </a:rPr>
              <a:t>How the source describes RGB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2468880"/>
            <a:ext cx="3749039" cy="23774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Three values represent red, green and blue.</a:t>
            </a:r>
          </a:p>
          <a:p>
            <a:pPr>
              <a:spcAft>
                <a:spcPts val="9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Each value may be an integer from 0 to 255 or a percentage.</a:t>
            </a:r>
          </a:p>
          <a:p>
            <a:pPr>
              <a:spcAft>
                <a:spcPts val="9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The source notes that browser support was inconsistent and recommends not relying on rgb() in that historical context.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5074920"/>
            <a:ext cx="12801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F59155"/>
                </a:solidFill>
                <a:latin typeface="Aptos"/>
              </a:rPr>
              <a:t>Modern note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5413248"/>
            <a:ext cx="37033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AFBCCF"/>
                </a:solidFill>
                <a:latin typeface="Aptos"/>
              </a:rPr>
              <a:t>Current CSS supports rgb(); the source's warning reflects its older context.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2377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46D2E6"/>
                </a:solidFill>
                <a:latin typeface="Aptos"/>
              </a:rPr>
              <a:t>COLORS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"/>
              </a:rPr>
              <a:t>Browser-Safe Colors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7899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 i="0">
                <a:solidFill>
                  <a:srgbClr val="AFBCCF"/>
                </a:solidFill>
                <a:latin typeface="Aptos"/>
              </a:rPr>
              <a:t>The source lists 216 colors as safe for older 256-color environments.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B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01400" y="6537960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0" i="0">
                <a:solidFill>
                  <a:srgbClr val="AFBCCF"/>
                </a:solidFill>
                <a:latin typeface="Aptos"/>
              </a:rPr>
              <a:t>44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5166360" cy="452628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874519"/>
            <a:ext cx="29260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46D2E6"/>
                </a:solidFill>
                <a:latin typeface="Aptos"/>
              </a:rPr>
              <a:t>Source explanation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68880"/>
            <a:ext cx="4389120" cy="21945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9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The notes describe 216 browser-safe colors.</a:t>
            </a:r>
          </a:p>
          <a:p>
            <a:pPr>
              <a:spcAft>
                <a:spcPts val="9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They are represented using hexadecimal values.</a:t>
            </a:r>
          </a:p>
          <a:p>
            <a:pPr>
              <a:spcAft>
                <a:spcPts val="9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The range shown runs from 000000 to FFFFFF.</a:t>
            </a:r>
          </a:p>
          <a:p>
            <a:pPr>
              <a:spcAft>
                <a:spcPts val="9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The historical goal was consistent display on 256-color palettes.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1874519"/>
            <a:ext cx="32004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5DDC91"/>
                </a:solidFill>
                <a:latin typeface="Aptos"/>
              </a:rPr>
              <a:t>Examples from the 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514600"/>
            <a:ext cx="74980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F5F8FC"/>
                </a:solidFill>
                <a:latin typeface="Cascadia Mono"/>
              </a:rPr>
              <a:t>000000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13448" y="2514600"/>
            <a:ext cx="74980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F5F8FC"/>
                </a:solidFill>
                <a:latin typeface="Cascadia Mono"/>
              </a:rPr>
              <a:t>000033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4696" y="2514600"/>
            <a:ext cx="74980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F5F8FC"/>
                </a:solidFill>
                <a:latin typeface="Cascadia Mono"/>
              </a:rPr>
              <a:t>000066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95944" y="2514600"/>
            <a:ext cx="74980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F5F8FC"/>
                </a:solidFill>
                <a:latin typeface="Cascadia Mono"/>
              </a:rPr>
              <a:t>000099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37192" y="2514600"/>
            <a:ext cx="74980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F5F8FC"/>
                </a:solidFill>
                <a:latin typeface="Cascadia Mono"/>
              </a:rPr>
              <a:t>0000CC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78440" y="2514600"/>
            <a:ext cx="74980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F5F8FC"/>
                </a:solidFill>
                <a:latin typeface="Cascadia Mono"/>
              </a:rPr>
              <a:t>0000FF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3090672"/>
            <a:ext cx="74980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F5F8FC"/>
                </a:solidFill>
                <a:latin typeface="Cascadia Mono"/>
              </a:rPr>
              <a:t>003300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3448" y="3090672"/>
            <a:ext cx="74980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F5F8FC"/>
                </a:solidFill>
                <a:latin typeface="Cascadia Mono"/>
              </a:rPr>
              <a:t>003333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54696" y="3090672"/>
            <a:ext cx="74980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F5F8FC"/>
                </a:solidFill>
                <a:latin typeface="Cascadia Mono"/>
              </a:rPr>
              <a:t>003366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95944" y="3090672"/>
            <a:ext cx="74980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F5F8FC"/>
                </a:solidFill>
                <a:latin typeface="Cascadia Mono"/>
              </a:rPr>
              <a:t>003399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37192" y="3090672"/>
            <a:ext cx="74980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F5F8FC"/>
                </a:solidFill>
                <a:latin typeface="Cascadia Mono"/>
              </a:rPr>
              <a:t>0033CC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78440" y="3090672"/>
            <a:ext cx="74980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F5F8FC"/>
                </a:solidFill>
                <a:latin typeface="Cascadia Mono"/>
              </a:rPr>
              <a:t>0033FF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3666744"/>
            <a:ext cx="74980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F5F8FC"/>
                </a:solidFill>
                <a:latin typeface="Cascadia Mono"/>
              </a:rPr>
              <a:t>006600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3448" y="3666744"/>
            <a:ext cx="74980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F5F8FC"/>
                </a:solidFill>
                <a:latin typeface="Cascadia Mono"/>
              </a:rPr>
              <a:t>006633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54696" y="3666744"/>
            <a:ext cx="74980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F5F8FC"/>
                </a:solidFill>
                <a:latin typeface="Cascadia Mono"/>
              </a:rPr>
              <a:t>006666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95944" y="3666744"/>
            <a:ext cx="74980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F5F8FC"/>
                </a:solidFill>
                <a:latin typeface="Cascadia Mono"/>
              </a:rPr>
              <a:t>006699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37192" y="3666744"/>
            <a:ext cx="74980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F5F8FC"/>
                </a:solidFill>
                <a:latin typeface="Cascadia Mono"/>
              </a:rPr>
              <a:t>0066CC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78440" y="3666744"/>
            <a:ext cx="74980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F5F8FC"/>
                </a:solidFill>
                <a:latin typeface="Cascadia Mono"/>
              </a:rPr>
              <a:t>0066FF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242816"/>
            <a:ext cx="74980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F5F8FC"/>
                </a:solidFill>
                <a:latin typeface="Cascadia Mono"/>
              </a:rPr>
              <a:t>009900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13448" y="4242816"/>
            <a:ext cx="74980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F5F8FC"/>
                </a:solidFill>
                <a:latin typeface="Cascadia Mono"/>
              </a:rPr>
              <a:t>009933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54696" y="4242816"/>
            <a:ext cx="74980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F5F8FC"/>
                </a:solidFill>
                <a:latin typeface="Cascadia Mono"/>
              </a:rPr>
              <a:t>009966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95944" y="4242816"/>
            <a:ext cx="74980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F5F8FC"/>
                </a:solidFill>
                <a:latin typeface="Cascadia Mono"/>
              </a:rPr>
              <a:t>009999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37192" y="4242816"/>
            <a:ext cx="74980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F5F8FC"/>
                </a:solidFill>
                <a:latin typeface="Cascadia Mono"/>
              </a:rPr>
              <a:t>0099CC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78440" y="4242816"/>
            <a:ext cx="74980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F5F8FC"/>
                </a:solidFill>
                <a:latin typeface="Cascadia Mono"/>
              </a:rPr>
              <a:t>0099FF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2200" y="4818888"/>
            <a:ext cx="74980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F5F8FC"/>
                </a:solidFill>
                <a:latin typeface="Cascadia Mono"/>
              </a:rPr>
              <a:t>00CC00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13448" y="4818888"/>
            <a:ext cx="74980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F5F8FC"/>
                </a:solidFill>
                <a:latin typeface="Cascadia Mono"/>
              </a:rPr>
              <a:t>00CC33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54696" y="4818888"/>
            <a:ext cx="74980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F5F8FC"/>
                </a:solidFill>
                <a:latin typeface="Cascadia Mono"/>
              </a:rPr>
              <a:t>00CC66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95944" y="4818888"/>
            <a:ext cx="74980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F5F8FC"/>
                </a:solidFill>
                <a:latin typeface="Cascadia Mono"/>
              </a:rPr>
              <a:t>00CC99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37192" y="4818888"/>
            <a:ext cx="74980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F5F8FC"/>
                </a:solidFill>
                <a:latin typeface="Cascadia Mono"/>
              </a:rPr>
              <a:t>00CCCC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78440" y="4818888"/>
            <a:ext cx="749808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950" b="1" i="0">
                <a:solidFill>
                  <a:srgbClr val="F5F8FC"/>
                </a:solidFill>
                <a:latin typeface="Cascadia Mono"/>
              </a:rPr>
              <a:t>00CCFF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72200" y="5486400"/>
            <a:ext cx="475488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AFBCCF"/>
                </a:solidFill>
                <a:latin typeface="Aptos"/>
              </a:rPr>
              <a:t>The PDF continues the full safe-color grid across pages 24–26.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2377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46D2E6"/>
                </a:solidFill>
                <a:latin typeface="Aptos"/>
              </a:rPr>
              <a:t>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"/>
              </a:rPr>
              <a:t>Integrated Example: A Small HTML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7899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 i="0">
                <a:solidFill>
                  <a:srgbClr val="AFBCCF"/>
                </a:solidFill>
                <a:latin typeface="Aptos"/>
              </a:rPr>
              <a:t>Combining structure, text, image, link and table concepts.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B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01400" y="6537960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0" i="0">
                <a:solidFill>
                  <a:srgbClr val="AFBCCF"/>
                </a:solidFill>
                <a:latin typeface="Aptos"/>
              </a:rPr>
              <a:t>45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08760"/>
            <a:ext cx="7406640" cy="4663440"/>
          </a:xfrm>
          <a:prstGeom prst="roundRect">
            <a:avLst/>
          </a:prstGeom>
          <a:solidFill>
            <a:srgbClr val="080D16"/>
          </a:solidFill>
          <a:ln>
            <a:solidFill>
              <a:srgbClr val="1B27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618488"/>
            <a:ext cx="1097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1" i="0">
                <a:solidFill>
                  <a:srgbClr val="46D2E6"/>
                </a:solidFill>
                <a:latin typeface="Aptos"/>
              </a:rPr>
              <a:t>COMBINED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920240"/>
            <a:ext cx="7077455" cy="4133087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1110">
                <a:solidFill>
                  <a:srgbClr val="DEECF7"/>
                </a:solidFill>
                <a:latin typeface="Cascadia Mono"/>
              </a:rPr>
              <a:t>&lt;!DOCTYPE html&gt;
&lt;html&gt;
&lt;head&gt;
  &lt;title&gt;Student Profile&lt;/title&gt;
&lt;/head&gt;
&lt;body&gt;
  &lt;h1&gt;Student Profile&lt;/h1&gt;
  &lt;p&gt;&lt;strong&gt;Name:&lt;/strong&gt; Asha&lt;/p&gt;
  &lt;img src="student.jpg" alt="Student photo"
       width="120" height="120"&gt;
  &lt;p&gt;&lt;a href="about.html"&gt;More details&lt;/a&gt;&lt;/p&gt;
  &lt;table&gt;
    &lt;tr&gt;&lt;th&gt;Subject&lt;/th&gt;&lt;th&gt;Marks&lt;/th&gt;&lt;/tr&gt;
    &lt;tr&gt;&lt;td&gt;HTML&lt;/td&gt;&lt;td&gt;92&lt;/td&gt;&lt;/tr&gt;
  &lt;/table&gt;
&lt;/body&gt;
&lt;/html&gt;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508760"/>
            <a:ext cx="3154680" cy="466344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58200" y="1828800"/>
            <a:ext cx="24688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i="0">
                <a:solidFill>
                  <a:srgbClr val="46D2E6"/>
                </a:solidFill>
                <a:latin typeface="Aptos"/>
              </a:rPr>
              <a:t>Concepts used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423160"/>
            <a:ext cx="2514600" cy="23774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800"/>
              </a:spcAft>
              <a:defRPr sz="1450">
                <a:solidFill>
                  <a:srgbClr val="F5F8FC"/>
                </a:solidFill>
                <a:latin typeface="Aptos"/>
              </a:defRPr>
            </a:pPr>
            <a:r>
              <a:t>• Document structure</a:t>
            </a:r>
          </a:p>
          <a:p>
            <a:pPr>
              <a:spcAft>
                <a:spcPts val="800"/>
              </a:spcAft>
              <a:defRPr sz="1450">
                <a:solidFill>
                  <a:srgbClr val="F5F8FC"/>
                </a:solidFill>
                <a:latin typeface="Aptos"/>
              </a:defRPr>
            </a:pPr>
            <a:r>
              <a:t>• Heading + paragraph</a:t>
            </a:r>
          </a:p>
          <a:p>
            <a:pPr>
              <a:spcAft>
                <a:spcPts val="800"/>
              </a:spcAft>
              <a:defRPr sz="1450">
                <a:solidFill>
                  <a:srgbClr val="F5F8FC"/>
                </a:solidFill>
                <a:latin typeface="Aptos"/>
              </a:defRPr>
            </a:pPr>
            <a:r>
              <a:t>• Strong emphasis</a:t>
            </a:r>
          </a:p>
          <a:p>
            <a:pPr>
              <a:spcAft>
                <a:spcPts val="800"/>
              </a:spcAft>
              <a:defRPr sz="1450">
                <a:solidFill>
                  <a:srgbClr val="F5F8FC"/>
                </a:solidFill>
                <a:latin typeface="Aptos"/>
              </a:defRPr>
            </a:pPr>
            <a:r>
              <a:t>• Image + alt text</a:t>
            </a:r>
          </a:p>
          <a:p>
            <a:pPr>
              <a:spcAft>
                <a:spcPts val="800"/>
              </a:spcAft>
              <a:defRPr sz="1450">
                <a:solidFill>
                  <a:srgbClr val="F5F8FC"/>
                </a:solidFill>
                <a:latin typeface="Aptos"/>
              </a:defRPr>
            </a:pPr>
            <a:r>
              <a:t>• Hyperlink</a:t>
            </a:r>
          </a:p>
          <a:p>
            <a:pPr>
              <a:spcAft>
                <a:spcPts val="800"/>
              </a:spcAft>
              <a:defRPr sz="1450">
                <a:solidFill>
                  <a:srgbClr val="F5F8FC"/>
                </a:solidFill>
                <a:latin typeface="Aptos"/>
              </a:defRPr>
            </a:pPr>
            <a:r>
              <a:t>• Table + headings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2377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46D2E6"/>
                </a:solidFill>
                <a:latin typeface="Aptos"/>
              </a:rPr>
              <a:t>REVISION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"/>
              </a:rPr>
              <a:t>Quick Reference: Tags Covered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7899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 i="0">
                <a:solidFill>
                  <a:srgbClr val="AFBCCF"/>
                </a:solidFill>
                <a:latin typeface="Aptos"/>
              </a:rPr>
              <a:t>A final revision map for students.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B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556248"/>
            <a:ext cx="64008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50" b="0" i="0">
                <a:solidFill>
                  <a:srgbClr val="AFBCCF"/>
                </a:solidFill>
                <a:latin typeface="Aptos"/>
              </a:rPr>
              <a:t>Source: HTML Notes.pdf — page(s) 1–26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537960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0" i="0">
                <a:solidFill>
                  <a:srgbClr val="AFBCCF"/>
                </a:solidFill>
                <a:latin typeface="Aptos"/>
              </a:rPr>
              <a:t>46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5166360" cy="713232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709928"/>
            <a:ext cx="1143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1" i="0">
                <a:solidFill>
                  <a:srgbClr val="46D2E6"/>
                </a:solidFill>
                <a:latin typeface="Aptos"/>
              </a:rPr>
              <a:t>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709928"/>
            <a:ext cx="35204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F5F8FC"/>
                </a:solidFill>
                <a:latin typeface="Cascadia Mono"/>
              </a:rPr>
              <a:t>&lt;html&gt; &lt;head&gt; &lt;title&gt; &lt;body&gt;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600200"/>
            <a:ext cx="5166360" cy="713232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73952" y="1709928"/>
            <a:ext cx="1143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1" i="0">
                <a:solidFill>
                  <a:srgbClr val="5DDC91"/>
                </a:solidFill>
                <a:latin typeface="Aptos"/>
              </a:rPr>
              <a:t>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80" y="1709928"/>
            <a:ext cx="35204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F5F8FC"/>
                </a:solidFill>
                <a:latin typeface="Cascadia Mono"/>
              </a:rPr>
              <a:t>&lt;h1&gt;–&lt;h6&gt; &lt;p&gt; &lt;br&gt; &lt;pre&gt; &lt;hr&gt;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496312"/>
            <a:ext cx="5166360" cy="713232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" y="2606040"/>
            <a:ext cx="1143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1" i="0">
                <a:solidFill>
                  <a:srgbClr val="46D2E6"/>
                </a:solidFill>
                <a:latin typeface="Aptos"/>
              </a:rPr>
              <a:t>Formatting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2606040"/>
            <a:ext cx="35204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F5F8FC"/>
                </a:solidFill>
                <a:latin typeface="Cascadia Mono"/>
              </a:rPr>
              <a:t>&lt;b&gt; &lt;i&gt; &lt;u&gt; &lt;strike&gt; &lt;tt&gt; &lt;sup&gt; &lt;sub&gt; &lt;big&gt; &lt;small&gt;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496312"/>
            <a:ext cx="5166360" cy="713232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73952" y="2606040"/>
            <a:ext cx="1143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1" i="0">
                <a:solidFill>
                  <a:srgbClr val="5DDC91"/>
                </a:solidFill>
                <a:latin typeface="Aptos"/>
              </a:rPr>
              <a:t>Phrase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80" y="2606040"/>
            <a:ext cx="35204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F5F8FC"/>
                </a:solidFill>
                <a:latin typeface="Cascadia Mono"/>
              </a:rPr>
              <a:t>&lt;em&gt; &lt;strong&gt;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392424"/>
            <a:ext cx="5166360" cy="713232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0392" y="3502152"/>
            <a:ext cx="1143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1" i="0">
                <a:solidFill>
                  <a:srgbClr val="46D2E6"/>
                </a:solidFill>
                <a:latin typeface="Aptos"/>
              </a:rPr>
              <a:t>Code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3502152"/>
            <a:ext cx="35204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F5F8FC"/>
                </a:solidFill>
                <a:latin typeface="Cascadia Mono"/>
              </a:rPr>
              <a:t>&lt;!-- --&gt;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392424"/>
            <a:ext cx="5166360" cy="713232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73952" y="3502152"/>
            <a:ext cx="1143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1" i="0">
                <a:solidFill>
                  <a:srgbClr val="5DDC91"/>
                </a:solidFill>
                <a:latin typeface="Aptos"/>
              </a:rPr>
              <a:t>Fonts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26680" y="3502152"/>
            <a:ext cx="35204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F5F8FC"/>
                </a:solidFill>
                <a:latin typeface="Cascadia Mono"/>
              </a:rPr>
              <a:t>&lt;font&gt; &lt;basefont&gt;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288536"/>
            <a:ext cx="5166360" cy="713232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0392" y="4398264"/>
            <a:ext cx="1143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1" i="0">
                <a:solidFill>
                  <a:srgbClr val="46D2E6"/>
                </a:solidFill>
                <a:latin typeface="Aptos"/>
              </a:rPr>
              <a:t>Images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4398264"/>
            <a:ext cx="35204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F5F8FC"/>
                </a:solidFill>
                <a:latin typeface="Cascadia Mono"/>
              </a:rPr>
              <a:t>&lt;img&gt;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288536"/>
            <a:ext cx="5166360" cy="713232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73952" y="4398264"/>
            <a:ext cx="1143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1" i="0">
                <a:solidFill>
                  <a:srgbClr val="5DDC91"/>
                </a:solidFill>
                <a:latin typeface="Aptos"/>
              </a:rPr>
              <a:t>Links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6680" y="4398264"/>
            <a:ext cx="35204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F5F8FC"/>
                </a:solidFill>
                <a:latin typeface="Cascadia Mono"/>
              </a:rPr>
              <a:t>&lt;a&gt;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5184648"/>
            <a:ext cx="5166360" cy="713232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50392" y="5294376"/>
            <a:ext cx="1143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1" i="0">
                <a:solidFill>
                  <a:srgbClr val="46D2E6"/>
                </a:solidFill>
                <a:latin typeface="Aptos"/>
              </a:rPr>
              <a:t>Tables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20" y="5294376"/>
            <a:ext cx="35204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F5F8FC"/>
                </a:solidFill>
                <a:latin typeface="Cascadia Mono"/>
              </a:rPr>
              <a:t>&lt;table&gt; &lt;tr&gt; &lt;td&gt; &lt;th&gt; &lt;caption&gt;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5184648"/>
            <a:ext cx="5166360" cy="713232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73952" y="5294376"/>
            <a:ext cx="114300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1" i="0">
                <a:solidFill>
                  <a:srgbClr val="5DDC91"/>
                </a:solidFill>
                <a:latin typeface="Aptos"/>
              </a:rPr>
              <a:t>Colors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26680" y="5294376"/>
            <a:ext cx="352044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50" b="0" i="0">
                <a:solidFill>
                  <a:srgbClr val="F5F8FC"/>
                </a:solidFill>
                <a:latin typeface="Cascadia Mono"/>
              </a:rPr>
              <a:t>names • #RRGGBB • rgb()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2377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46D2E6"/>
                </a:solidFill>
                <a:latin typeface="Aptos"/>
              </a:rPr>
              <a:t>REVISION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1097280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700" b="1" i="0">
                <a:solidFill>
                  <a:srgbClr val="F5F8FC"/>
                </a:solidFill>
                <a:latin typeface="Aptos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107899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50" b="0" i="0">
                <a:solidFill>
                  <a:srgbClr val="AFBCCF"/>
                </a:solidFill>
                <a:latin typeface="Aptos"/>
              </a:rPr>
              <a:t>What students should be able to do after this lecture.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8288"/>
          </a:xfrm>
          <a:prstGeom prst="rect">
            <a:avLst/>
          </a:prstGeom>
          <a:solidFill>
            <a:srgbClr val="1B27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201400" y="6537960"/>
            <a:ext cx="36576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850" b="0" i="0">
                <a:solidFill>
                  <a:srgbClr val="AFBCCF"/>
                </a:solidFill>
                <a:latin typeface="Aptos"/>
              </a:rPr>
              <a:t>47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5257800" cy="443484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355080" y="1600200"/>
            <a:ext cx="5257800" cy="4434840"/>
          </a:xfrm>
          <a:prstGeom prst="roundRect">
            <a:avLst/>
          </a:prstGeom>
          <a:solidFill>
            <a:srgbClr val="141E30"/>
          </a:solidFill>
          <a:ln>
            <a:solidFill>
              <a:srgbClr val="141E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47091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46D2E6"/>
                </a:solidFill>
                <a:latin typeface="Aptos"/>
              </a:rPr>
              <a:t>You should be able 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313432"/>
            <a:ext cx="4709160" cy="3520439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6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Create and save a basic HTML document.</a:t>
            </a:r>
          </a:p>
          <a:p>
            <a:pPr>
              <a:spcAft>
                <a:spcPts val="6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Explain html, head, title and body.</a:t>
            </a:r>
          </a:p>
          <a:p>
            <a:pPr>
              <a:spcAft>
                <a:spcPts val="6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Recognize tags, elements and attributes.</a:t>
            </a:r>
          </a:p>
          <a:p>
            <a:pPr>
              <a:spcAft>
                <a:spcPts val="6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Use headings, paragraphs, line breaks and formatting.</a:t>
            </a:r>
          </a:p>
          <a:p>
            <a:pPr>
              <a:spcAft>
                <a:spcPts val="6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Add images and hyperlinks.</a:t>
            </a:r>
          </a:p>
          <a:p>
            <a:pPr>
              <a:spcAft>
                <a:spcPts val="6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Build tables with headers and merged cells.</a:t>
            </a:r>
          </a:p>
          <a:p>
            <a:pPr>
              <a:spcAft>
                <a:spcPts val="6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Explain color names, hex and RGB notation.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1828800"/>
            <a:ext cx="47091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i="0">
                <a:solidFill>
                  <a:srgbClr val="5DDC91"/>
                </a:solidFill>
                <a:latin typeface="Aptos"/>
              </a:rPr>
              <a:t>Remember from the source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313432"/>
            <a:ext cx="4709160" cy="3520439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6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The PDF contains many legacy/presentational examples.</a:t>
            </a:r>
          </a:p>
          <a:p>
            <a:pPr>
              <a:spcAft>
                <a:spcPts val="6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The source itself flags several attributes/tags as deprecated and recommends CSS.</a:t>
            </a:r>
          </a:p>
          <a:p>
            <a:pPr>
              <a:spcAft>
                <a:spcPts val="6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t>• Use the examples to understand syntax, then prefer modern CSS/HTML in new projects.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6112</Words>
  <Application>Microsoft Office PowerPoint</Application>
  <PresentationFormat>Widescreen</PresentationFormat>
  <Paragraphs>747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2" baseType="lpstr">
      <vt:lpstr>Aptos</vt:lpstr>
      <vt:lpstr>Arial</vt:lpstr>
      <vt:lpstr>Calibri</vt:lpstr>
      <vt:lpstr>Cascadia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Aarchit Joshi</cp:lastModifiedBy>
  <cp:revision>3</cp:revision>
  <dcterms:created xsi:type="dcterms:W3CDTF">2013-01-27T09:14:16Z</dcterms:created>
  <dcterms:modified xsi:type="dcterms:W3CDTF">2026-09-01T09:52:38Z</dcterms:modified>
  <cp:category/>
</cp:coreProperties>
</file>