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298" y="-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52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EBF2FA"/>
                </a:solidFill>
                <a:latin typeface="Aptos"/>
              </a:rPr>
              <a:t>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2D392"/>
                </a:solidFill>
                <a:latin typeface="Aptos"/>
              </a:rPr>
              <a:t>The Structure Behind the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DC2"/>
                </a:solidFill>
                <a:latin typeface="Aptos"/>
              </a:rPr>
              <a:t>A modern, visual introduction to HTML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960120"/>
            <a:ext cx="3749039" cy="429768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5552" y="1097280"/>
            <a:ext cx="34198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2F0"/>
                </a:solidFill>
                <a:latin typeface="Consolas"/>
              </a:rPr>
              <a:t>&lt;html&gt;
  &lt;head&gt;
    &lt;title&gt;My First Page&lt;/title&gt;
  &lt;/head&gt;
  &lt;body&gt;
    &lt;h1&gt;Hello Web!&lt;/h1&gt;
  &lt;/body&gt;
&lt;/html&gt;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From the first HTML file to a small integrated web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D392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922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9222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What HTML is • document structure • tags • elements •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D392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33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Text &amp;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6334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Headings • paragraphs • breaks • preformatted text • formatting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112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D39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Media &amp;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Images • hyperlinks • destinations • useful 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5254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D392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Tables &amp; Color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3159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Rows • cells • headers • spanning • color notation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D392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572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Modern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515721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Recognize legacy markup • prefer CSS for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What is HTML?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Hypertext Markup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29260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4864" cy="292608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MARKUP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41448"/>
            <a:ext cx="299923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CADC2"/>
                </a:solidFill>
                <a:latin typeface="Aptos"/>
              </a:rPr>
              <a:t>HTML describes and structures content. It is not a programming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83280" cy="29260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54864" cy="292608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39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HYPERTEXT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41448"/>
            <a:ext cx="299923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CADC2"/>
                </a:solidFill>
                <a:latin typeface="Aptos"/>
              </a:rPr>
              <a:t>Links connect documents and resources so users can navigate the web.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83280" cy="29260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54864" cy="29260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039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BROWSER RENDERING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441448"/>
            <a:ext cx="299923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CADC2"/>
                </a:solidFill>
                <a:latin typeface="Aptos"/>
              </a:rPr>
              <a:t>A browser reads the HTML document and presents its content to the user.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The HTML Document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Think of the page as a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669280" cy="384048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65960"/>
            <a:ext cx="5340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2F0"/>
                </a:solidFill>
                <a:latin typeface="Consolas"/>
              </a:rPr>
              <a:t>&lt;html&gt;
  &lt;head&gt;
    &lt;title&gt;Page Title&lt;/title&gt;
  &lt;/head&gt;
  &lt;body&gt;
    Visible page content
  &lt;/body&gt;
&lt;/html&gt;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828800"/>
            <a:ext cx="4389120" cy="11430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0" y="1828800"/>
            <a:ext cx="54864" cy="114300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3448" y="1993392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&lt;head&gt;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2395728"/>
            <a:ext cx="40050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DC2"/>
                </a:solidFill>
                <a:latin typeface="Aptos"/>
              </a:rPr>
              <a:t>Document information such as the title.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246120"/>
            <a:ext cx="4389120" cy="11430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3246120"/>
            <a:ext cx="54864" cy="11430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3410712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&lt;title&gt;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3813048"/>
            <a:ext cx="40050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DC2"/>
                </a:solidFill>
                <a:latin typeface="Aptos"/>
              </a:rPr>
              <a:t>Names/describes the document.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4663440"/>
            <a:ext cx="4389120" cy="11430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80" y="4663440"/>
            <a:ext cx="54864" cy="11430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4828031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&lt;body&gt;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5230368"/>
            <a:ext cx="40050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DC2"/>
                </a:solidFill>
                <a:latin typeface="Aptos"/>
              </a:rPr>
              <a:t>Contains the content shown in the page.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Tags, Elements &amp;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How HTML syntax is assembled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657600" cy="114300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65960"/>
            <a:ext cx="33284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2F0"/>
                </a:solidFill>
                <a:latin typeface="Consolas"/>
              </a:rPr>
              <a:t>&lt;p&gt;Hello&lt;/p&gt;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783080"/>
            <a:ext cx="2743200" cy="12801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9160" y="1783080"/>
            <a:ext cx="54864" cy="128016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0328" y="19476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2350008"/>
            <a:ext cx="2359152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A markup name inside angle brackets.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783080"/>
            <a:ext cx="2743200" cy="12801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783080"/>
            <a:ext cx="54864" cy="128016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19476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ELEMENT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350008"/>
            <a:ext cx="2359152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Opening tag + content + closing tag.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6400800" cy="141732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794760"/>
            <a:ext cx="60716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2F0"/>
                </a:solidFill>
                <a:latin typeface="Consolas"/>
              </a:rPr>
              <a:t>&lt;font face="arial" color="#CC0000"&gt;Text&lt;/font&gt;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611880"/>
            <a:ext cx="3017520" cy="15087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3611880"/>
            <a:ext cx="54864" cy="150876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37764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ATTRIBUTE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4178808"/>
            <a:ext cx="263347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Extra information in the opening tag:
name="value"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Text Structure: Whitespace &amp; Headings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HTML gives content a logical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20640" cy="18288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4864" cy="182880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WHITESPACE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473659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DC2"/>
                </a:solidFill>
                <a:latin typeface="Aptos"/>
              </a:rPr>
              <a:t>Browsers normally collapse consecutive spaces and source line breaks into ordinary whitespace.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5120640" cy="16002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977639"/>
            <a:ext cx="54864" cy="16002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142231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HEADINGS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544568"/>
            <a:ext cx="47365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DC2"/>
                </a:solidFill>
                <a:latin typeface="Aptos"/>
              </a:rPr>
              <a:t>Six levels are available: &lt;h1&gt; through &lt;h6&gt;. Use the hierarchy to communicate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4937760" cy="283464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965960"/>
            <a:ext cx="460857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2F0"/>
                </a:solidFill>
                <a:latin typeface="Consolas"/>
              </a:rPr>
              <a:t>&lt;h1&gt;Main topic&lt;/h1&gt;
&lt;h2&gt;Section&lt;/h2&gt;
&lt;h3&gt;Subsection&lt;/h3&gt;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Paragraphs, Breaks &amp; Preformatted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Different elements solve different text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486400" cy="384048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5157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6E2F0"/>
                </a:solidFill>
                <a:latin typeface="Consolas"/>
              </a:rPr>
              <a:t>&lt;p&gt;First paragraph.&lt;/p&gt;
&lt;p&gt;Second paragraph.&lt;/p&gt;
Hello&lt;br /&gt;World
&lt;pre&gt;  *
 ***
*****&lt;/pre&gt;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28800"/>
            <a:ext cx="4663440" cy="10972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1828800"/>
            <a:ext cx="54864" cy="109728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993392"/>
            <a:ext cx="4297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&lt;p&gt;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2395728"/>
            <a:ext cx="4279392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DC2"/>
                </a:solidFill>
                <a:latin typeface="Aptos"/>
              </a:rPr>
              <a:t>Creates a paragraph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154680"/>
            <a:ext cx="4663440" cy="10972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3154680"/>
            <a:ext cx="54864" cy="109728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3319272"/>
            <a:ext cx="4297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&lt;br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3721608"/>
            <a:ext cx="4279392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DC2"/>
                </a:solidFill>
                <a:latin typeface="Aptos"/>
              </a:rPr>
              <a:t>Moves following content to the next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480560"/>
            <a:ext cx="4663440" cy="10972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4480560"/>
            <a:ext cx="54864" cy="10972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4645152"/>
            <a:ext cx="4297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&lt;pre&gt;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5047488"/>
            <a:ext cx="4279392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DC2"/>
                </a:solidFill>
                <a:latin typeface="Aptos"/>
              </a:rPr>
              <a:t>Preserves source spacing and line breaks.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Text Formatting &amp; Emphasis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Visual formatting vs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400800" cy="347472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60716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2F0"/>
                </a:solidFill>
                <a:latin typeface="Consolas"/>
              </a:rPr>
              <a:t>&lt;b&gt;Bold&lt;/b&gt;   &lt;i&gt;Italic&lt;/i&gt;   &lt;u&gt;Underline&lt;/u&gt;
&lt;sup&gt;x²&lt;/sup&gt;   &lt;sub&gt;H₂O&lt;/sub&gt;
&lt;em&gt;Emphasis&lt;/em&gt;
&lt;strong&gt;Strong importance&lt;/strong&gt;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828800"/>
            <a:ext cx="3840480" cy="13258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828800"/>
            <a:ext cx="54864" cy="13258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993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PRESENTATIONAL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395728"/>
            <a:ext cx="3456432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b, i, u, strike, tt, big, small and related tags appear in the source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40480" cy="16002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3429000"/>
            <a:ext cx="54864" cy="16002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3528" y="3593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MEANING-ORIENTED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3995928"/>
            <a:ext cx="3456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&lt;em&gt; and &lt;strong&gt; communicate emphasis/importance, not only appearance.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3492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8FF"/>
                </a:solidFill>
                <a:latin typeface="Aptos"/>
              </a:rPr>
              <a:t>Modern practice: use semantic HTML + CSS for presentation.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CODE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HTML 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Notes for developers — ignored by the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6400800" cy="265176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65960"/>
            <a:ext cx="60716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2F0"/>
                </a:solidFill>
                <a:latin typeface="Consolas"/>
              </a:rPr>
              <a:t>&lt;!-- This is commented out --&gt;
&lt;!--
  This is a multiline comment.
--&gt;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3657600" cy="11430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828800"/>
            <a:ext cx="54864" cy="11430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1993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2395728"/>
            <a:ext cx="32735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Opening: &lt;!--    Closing: 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246120"/>
            <a:ext cx="3657600" cy="11430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3246120"/>
            <a:ext cx="54864" cy="114300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34107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13048"/>
            <a:ext cx="32735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Document complex code and leave useful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663440"/>
            <a:ext cx="3657600" cy="11430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4663440"/>
            <a:ext cx="54864" cy="11430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482803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COMMON MISTAKE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5230368"/>
            <a:ext cx="32735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A space in &lt; !-- prevents the correct comment syntax.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Images with &lt;img&gt;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Add visual information to a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852160" cy="237744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11679"/>
            <a:ext cx="55229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2F0"/>
                </a:solidFill>
                <a:latin typeface="Consolas"/>
              </a:rPr>
              <a:t>&lt;img src="apple.jpg"
     alt="Apple Image"
     width="100" height="100"&gt;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828800"/>
            <a:ext cx="4206240" cy="96012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1828800"/>
            <a:ext cx="54864" cy="96012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6328" y="199339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src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8" y="2395728"/>
            <a:ext cx="38221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Identifies the image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971800"/>
            <a:ext cx="4206240" cy="96012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971800"/>
            <a:ext cx="54864" cy="96012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313639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alt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3538728"/>
            <a:ext cx="38221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Alternative text when the image cannot be shown.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114800"/>
            <a:ext cx="4206240" cy="96012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4114800"/>
            <a:ext cx="54864" cy="96012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427939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width / height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4681728"/>
            <a:ext cx="38221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Controls displayed dimensions in the source example.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5349240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DC2"/>
                </a:solidFill>
                <a:latin typeface="Aptos"/>
              </a:rPr>
              <a:t>Source also covers border, align, valign, hspace, vspace, id, title and image-map attributes.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Hyperlinks with &lt;a&gt;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Connect pages, sites, sections and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852160" cy="219456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57400"/>
            <a:ext cx="55229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2F0"/>
                </a:solidFill>
                <a:latin typeface="Consolas"/>
              </a:rPr>
              <a:t>&lt;a href="about.html"&gt;More details&lt;/a&gt;
&lt;a href="file.pdf"&gt;Download File&lt;/a&gt;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828800"/>
            <a:ext cx="4206240" cy="10515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1828800"/>
            <a:ext cx="54864" cy="105156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6328" y="199339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href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8" y="2395728"/>
            <a:ext cx="3822191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The destination of the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154680"/>
            <a:ext cx="4206240" cy="10515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3154680"/>
            <a:ext cx="54864" cy="105156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331927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3721608"/>
            <a:ext cx="3822191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The source covers values such as _blank and _self.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480560"/>
            <a:ext cx="4206240" cy="10515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4480560"/>
            <a:ext cx="54864" cy="105156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464515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name /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5047488"/>
            <a:ext cx="3822191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Can label a location within a document.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Tables: Rows, Cells &amp; 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Tables organize data into a grid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943600" cy="347472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56144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2F0"/>
                </a:solidFill>
                <a:latin typeface="Consolas"/>
              </a:rPr>
              <a:t>&lt;table&gt;
  &lt;tr&gt;
    &lt;th&gt;Name&lt;/th&gt;&lt;th&gt;Salary&lt;/th&gt;
  &lt;/tr&gt;
  &lt;tr&gt;
    &lt;td&gt;Ramesh&lt;/td&gt;&lt;td&gt;5000&lt;/td&gt;
  &lt;/tr&gt;
&lt;/table&gt;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783080"/>
            <a:ext cx="420624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1783080"/>
            <a:ext cx="54864" cy="9144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6328" y="194767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&lt;table&gt;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8" y="2350008"/>
            <a:ext cx="3822191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Table 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926080"/>
            <a:ext cx="420624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926080"/>
            <a:ext cx="54864" cy="91440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309067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&lt;tr&gt;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3493008"/>
            <a:ext cx="3822191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Table row.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069080"/>
            <a:ext cx="420624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4069080"/>
            <a:ext cx="54864" cy="9144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4233672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&lt;th&gt; / &lt;td&gt;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4636008"/>
            <a:ext cx="3822191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Header cell / data cell.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Advanced Tables: Spanning &amp; Spacing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Merge cells and control table spacing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029200" cy="201168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65960"/>
            <a:ext cx="47000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6E2F0"/>
                </a:solidFill>
                <a:latin typeface="Consolas"/>
              </a:rPr>
              <a:t>&lt;td rowspan="2"&gt;...&lt;/td&gt;
&lt;td colspan="3"&gt;...&lt;/td&gt;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377440" cy="12801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" cy="128016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993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rowspan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395728"/>
            <a:ext cx="1993392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Merges cells across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828800"/>
            <a:ext cx="2377440" cy="12801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0" y="1828800"/>
            <a:ext cx="54864" cy="128016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993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colspan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395728"/>
            <a:ext cx="1993392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Merges cells across columns.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20440"/>
            <a:ext cx="5029200" cy="15087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520440"/>
            <a:ext cx="54864" cy="150876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6850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Source spacing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087368"/>
            <a:ext cx="464515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cellpadding = space inside a cell
cellspacing = space between 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349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ADC2"/>
                </a:solidFill>
                <a:latin typeface="Aptos"/>
              </a:rPr>
              <a:t>Modern practice: use CSS padding and border-spacing for presentation.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HTML Colors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Three notation styles in the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1945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219456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COLOR 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90779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DC2"/>
                </a:solidFill>
                <a:latin typeface="Aptos"/>
              </a:rPr>
              <a:t>red
blue
navy
teal
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21945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54864" cy="219456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93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HEX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95728"/>
            <a:ext cx="290779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CADC2"/>
                </a:solidFill>
                <a:latin typeface="Aptos"/>
              </a:rPr>
              <a:t>Format: #RRGGBB
#FF0000 → red
#00FF00 → green
#0000FF → blue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291840" cy="219456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54864" cy="219456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93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RGB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395728"/>
            <a:ext cx="290779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DC2"/>
                </a:solidFill>
                <a:latin typeface="Aptos"/>
              </a:rPr>
              <a:t>rgb(red, green, blue)
rgb(255,0,0)
rgb(0,255,0)
rgb(0,0,255)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The source also discusses the historical 216 browser-safe colors.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Fonts: A Legacy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The source demonstrates &lt;font&gt; and &lt;basefont&gt;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486400" cy="210312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65960"/>
            <a:ext cx="5157216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6E2F0"/>
                </a:solidFill>
                <a:latin typeface="Consolas"/>
              </a:rPr>
              <a:t>&lt;font face="Verdana" size="5" color="red"&gt;
  Sample text
&lt;/font&gt;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828800"/>
            <a:ext cx="4572000" cy="11430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828800"/>
            <a:ext cx="54864" cy="11430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9933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WHAT THE SOURCE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2395728"/>
            <a:ext cx="41879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font can set size, face and color.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246120"/>
            <a:ext cx="4572000" cy="13258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3246120"/>
            <a:ext cx="54864" cy="13258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34107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IMPORTANT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3813048"/>
            <a:ext cx="4187952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The source explicitly calls these tags deprecated and recommends CSS.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A8FF"/>
                </a:solidFill>
                <a:latin typeface="Aptos"/>
              </a:rPr>
              <a:t>Modern CSS: font-family • font-size • color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Integrated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A small page combining the core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766560" cy="4480560"/>
          </a:xfrm>
          <a:prstGeom prst="roundRect">
            <a:avLst/>
          </a:prstGeom>
          <a:solidFill>
            <a:srgbClr val="0D1420"/>
          </a:solidFill>
          <a:ln>
            <a:solidFill>
              <a:srgbClr val="25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737360"/>
            <a:ext cx="643737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6E2F0"/>
                </a:solidFill>
                <a:latin typeface="Consolas"/>
              </a:rPr>
              <a:t>&lt;!DOCTYPE html&gt;
&lt;html&gt;
&lt;head&gt;
  &lt;title&gt;Student Profile&lt;/title&gt;
&lt;/head&gt;
&lt;body&gt;
  &lt;h1&gt;Student Profile&lt;/h1&gt;
  &lt;p&gt;&lt;strong&gt;Name:&lt;/strong&gt; Asha&lt;/p&gt;
  &lt;img src="student.jpg" alt="Student photo" width="120"&gt;
  &lt;p&gt;&lt;a href="about.html"&gt;More details&lt;/a&gt;&lt;/p&gt;
  &lt;table&gt;
    &lt;tr&gt;&lt;th&gt;Subject&lt;/th&gt;&lt;th&gt;Marks&lt;/th&gt;&lt;/tr&gt;
    &lt;tr&gt;&lt;td&gt;HTML&lt;/td&gt;&lt;td&gt;92&lt;/td&gt;&lt;/tr&gt;
  &lt;/table&gt;
&lt;/body&gt;
&lt;/html&gt;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828800"/>
            <a:ext cx="3566160" cy="329184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828800"/>
            <a:ext cx="54864" cy="329184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7848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CONCEPTS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395728"/>
            <a:ext cx="3182112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DC2"/>
                </a:solidFill>
                <a:latin typeface="Aptos"/>
              </a:rPr>
              <a:t>✓ Document structure
✓ Heading + paragraph
✓ Strong emphasis
✓ Image + alt text
✓ Hyperlink
✓ Table + header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D392"/>
                </a:solidFill>
                <a:latin typeface="Aptos"/>
              </a:rPr>
              <a:t>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BF2FA"/>
                </a:solidFill>
                <a:latin typeface="Aptos"/>
              </a:rPr>
              <a:t>HTML 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DC2"/>
                </a:solidFill>
                <a:latin typeface="Aptos"/>
              </a:rPr>
              <a:t>Use this as a revision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16636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54864" cy="9144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50008"/>
            <a:ext cx="47823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DC2"/>
                </a:solidFill>
                <a:latin typeface="Aptos"/>
              </a:rPr>
              <a:t>&lt;html&gt;  &lt;head&gt;  &lt;title&gt;  &lt;body&gt;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6636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4864" cy="91440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47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50008"/>
            <a:ext cx="47823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DC2"/>
                </a:solidFill>
                <a:latin typeface="Aptos"/>
              </a:rPr>
              <a:t>&lt;h1&gt;–&lt;h6&gt;  &lt;p&gt;  &lt;br&gt;  &lt;pre&gt;  &lt;hr&gt;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516636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26080"/>
            <a:ext cx="54864" cy="9144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90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Formatting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93008"/>
            <a:ext cx="47823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DC2"/>
                </a:solidFill>
                <a:latin typeface="Aptos"/>
              </a:rPr>
              <a:t>&lt;b&gt; &lt;i&gt; &lt;u&gt; &lt;sup&gt; &lt;sub&gt; &lt;em&gt; &lt;strong&gt;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26080"/>
            <a:ext cx="516636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54864" cy="9144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090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493008"/>
            <a:ext cx="47823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DC2"/>
                </a:solidFill>
                <a:latin typeface="Aptos"/>
              </a:rPr>
              <a:t>&lt;!-- --&gt;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69080"/>
            <a:ext cx="516636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69080"/>
            <a:ext cx="54864" cy="91440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233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Media &amp;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636008"/>
            <a:ext cx="47823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DC2"/>
                </a:solidFill>
                <a:latin typeface="Aptos"/>
              </a:rPr>
              <a:t>&lt;img&gt;  &lt;a&gt;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069080"/>
            <a:ext cx="516636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069080"/>
            <a:ext cx="54864" cy="9144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233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636008"/>
            <a:ext cx="47823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DC2"/>
                </a:solidFill>
                <a:latin typeface="Aptos"/>
              </a:rPr>
              <a:t>&lt;table&gt; &lt;tr&gt; &lt;td&gt; &lt;th&gt; &lt;caption&gt;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12080"/>
            <a:ext cx="5166360" cy="91440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212080"/>
            <a:ext cx="54864" cy="91440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376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Colors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779008"/>
            <a:ext cx="47823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DC2"/>
                </a:solidFill>
                <a:latin typeface="Aptos"/>
              </a:rPr>
              <a:t>names • #RRGGBB • rgb()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19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DC2"/>
                </a:solidFill>
                <a:latin typeface="Aptos"/>
              </a:rPr>
              <a:t>HTML BASICS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EBF2FA"/>
                </a:solidFill>
                <a:latin typeface="Aptos"/>
              </a:rPr>
              <a:t>You’re ready to build.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D392"/>
                </a:solidFill>
                <a:latin typeface="Aptos"/>
              </a:rPr>
              <a:t>HTML gives the web its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146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DC2"/>
                </a:solidFill>
                <a:latin typeface="Aptos"/>
              </a:rPr>
              <a:t>Next step → CSS for presentation, JavaScript for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39"/>
            <a:ext cx="3200400" cy="13258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749039"/>
            <a:ext cx="54864" cy="1325880"/>
          </a:xfrm>
          <a:prstGeom prst="rect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9136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315968"/>
            <a:ext cx="2816352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CADC2"/>
                </a:solidFill>
                <a:latin typeface="Aptos"/>
              </a:rPr>
              <a:t>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49039"/>
            <a:ext cx="3200400" cy="13258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3749039"/>
            <a:ext cx="54864" cy="1325880"/>
          </a:xfrm>
          <a:prstGeom prst="rect">
            <a:avLst/>
          </a:prstGeom>
          <a:solidFill>
            <a:srgbClr val="4C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39136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4315968"/>
            <a:ext cx="2816352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CADC2"/>
                </a:solidFill>
                <a:latin typeface="Aptos"/>
              </a:rPr>
              <a:t>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749039"/>
            <a:ext cx="3200400" cy="1325880"/>
          </a:xfrm>
          <a:prstGeom prst="roundRect">
            <a:avLst/>
          </a:prstGeom>
          <a:solidFill>
            <a:srgbClr val="131D2E"/>
          </a:solidFill>
          <a:ln>
            <a:solidFill>
              <a:srgbClr val="24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3749039"/>
            <a:ext cx="54864" cy="13258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39136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4315968"/>
            <a:ext cx="2816352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CADC2"/>
                </a:solidFill>
                <a:latin typeface="Aptos"/>
              </a:rP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190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CADC2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6112</Words>
  <Application>Microsoft Office PowerPoint</Application>
  <PresentationFormat>Widescreen</PresentationFormat>
  <Paragraphs>747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Aarchit Joshi</cp:lastModifiedBy>
  <cp:revision>3</cp:revision>
  <dcterms:created xsi:type="dcterms:W3CDTF">2013-01-27T09:14:16Z</dcterms:created>
  <dcterms:modified xsi:type="dcterms:W3CDTF">2026-09-01T09:52:38Z</dcterms:modified>
  <cp:category/>
</cp:coreProperties>
</file>